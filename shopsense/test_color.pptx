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9106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My name is [Name]. This is my Infosys Springboard Milestone 1 presentation for ShopSense — an AI-Powered Multi-Vendor Inventory Analytics Platform. It is built using FastAPI, PostgreSQL, and a modern HTML/CSS/JavaScript frontend. I will walk you through the problem, the architecture, and what we have delivered in Milestone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is that multi-vendor marketplaces have no centralized inventory system, no vendor data isolation, no admin oversight, and no demand intelligence. ShopSense addresses all four problems with role-based portals backed by PostgreSQL, a dedicated admin console, and an AI analytics layer using ARIMA and Gemini.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six objectives for Milestone 1 are: Secure authentication, vendor data isolation, full product management, an admin dashboard, 16 REST APIs, and the AI analytics foundation. All six have been delivered and are live.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technology stack has four layers. Frontend uses HTML5, CSS3, and JavaScript. Backend uses Python with FastAPI and Uvicorn. The database is PostgreSQL with SQLAlchemy ORM and SHA-256 password hashing. The AI layer uses ARIMA for demand forecasting and Google Gemini for sentiment analysis.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backend is structured into clearly separated modules. main.py bootstraps the app and serves static files. database.py manages the connection. models.py defines ORM tables. routers handle API endpoints. schemas validate data. crud performs database operations.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PostgreSQL database has five tables. The vendors table stores store name, owner name, hashed password, and account status. The products table has a vendor_id foreign key that links every product to its vendor — this enforces data isolation. Transactions and reviews are linked to products. The admins table is separate from vendors.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ShopSense has 16 REST API endpoints across four modules. The Vendor module handles registration and login. The Admin module provides dashboard metrics and vendor management. The Products module has full CRUD filtered by vendor_id. The Analytics module provides ARIMA forecasting and Gemini sentiment analysis.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Vendor Dashboard is a role-based workspace. After login, each vendor sees only their own products fetched from PostgreSQL using their vendor_id. The Inventory Health Summary shows available stock, low stock warnings, and out-of-stock alerts. Vendors can add, edit, delete products, search the catalog, filter by category, and sort by price or stock.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Admin Control Console is completely separate from the Vendor workspace. Admin logs in with predefined admin credentials. The dashboard shows live metrics — total vendors, total products, total revenue, and stock value — all from PostgreSQL. The vendor management table allows admin to enable, disable, or delete any vendor account. Deleting a vendor automatically removes all their products, reviews, and transactions.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Milestone 1 we delivered six things: secure authentication, strict vendor data isolation, full inventory management, an admin console with live PostgreSQL data, 16 documented REST APIs, and unified launch via a single uvicorn command.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Milestone 2, we plan five major enhancements: fully trained ARIMA model and live Gemini LLM integration, automated email notifications for low stock and orders, a payment gateway integration, a fully responsive mobile UI, and downloadable PDF and Excel reports.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concludes my Milestone 1 presentation for ShopSense. We have built a fully operational multi-vendor marketplace with FastAPI, PostgreSQL, and a modern frontend. The application launches with a single command and includes 16 REST APIs, role-based portals, secure authentication, vendor data isolation, an admin console, and an AI analytics foundation. Thank you, and I am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0" y="1737360"/>
            <a:ext cx="7315200" cy="3017520"/>
          </a:xfrm>
          <a:prstGeom prst="rect">
            <a:avLst/>
          </a:prstGeom>
          <a:noFill/>
        </p:spPr>
        <p:txBody>
          <a:bodyPr wrap="square">
            <a:spAutoFit/>
          </a:bodyPr>
          <a:lstStyle/>
          <a:p>
            <a:pPr algn="l"/>
            <a:r>
              <a:rPr sz="11000" b="1" i="0" dirty="0" err="1">
                <a:solidFill>
                  <a:srgbClr val="132D45"/>
                </a:solidFill>
                <a:latin typeface="Calibri"/>
              </a:rPr>
              <a:t>ShopSense</a:t>
            </a:r>
            <a:endParaRPr sz="11000" b="1" i="0" dirty="0">
              <a:solidFill>
                <a:srgbClr val="132D45"/>
              </a:solidFill>
              <a:latin typeface="Calibri"/>
            </a:endParaRPr>
          </a:p>
        </p:txBody>
      </p:sp>
      <p:sp>
        <p:nvSpPr>
          <p:cNvPr id="7" name="TextBox 6"/>
          <p:cNvSpPr txBox="1"/>
          <p:nvPr/>
        </p:nvSpPr>
        <p:spPr>
          <a:xfrm>
            <a:off x="9089136" y="6345936"/>
            <a:ext cx="3255264" cy="292388"/>
          </a:xfrm>
          <a:prstGeom prst="rect">
            <a:avLst/>
          </a:prstGeom>
          <a:noFill/>
        </p:spPr>
        <p:txBody>
          <a:bodyPr wrap="square">
            <a:spAutoFit/>
          </a:bodyPr>
          <a:lstStyle/>
          <a:p>
            <a:pPr algn="ctr"/>
            <a:r>
              <a:rPr sz="1300" b="1" i="0" dirty="0">
                <a:solidFill>
                  <a:srgbClr val="FFFFFF"/>
                </a:solidFill>
                <a:latin typeface="Calibri"/>
              </a:rPr>
              <a:t>t</a:t>
            </a:r>
          </a:p>
        </p:txBody>
      </p:sp>
      <p:sp>
        <p:nvSpPr>
          <p:cNvPr id="8" name="TextBox 7"/>
          <p:cNvSpPr txBox="1"/>
          <p:nvPr/>
        </p:nvSpPr>
        <p:spPr>
          <a:xfrm>
            <a:off x="457200" y="1097280"/>
            <a:ext cx="10972800" cy="1051560"/>
          </a:xfrm>
          <a:prstGeom prst="rect">
            <a:avLst/>
          </a:prstGeom>
          <a:noFill/>
        </p:spPr>
        <p:txBody>
          <a:bodyPr wrap="square">
            <a:spAutoFit/>
          </a:bodyPr>
          <a:lstStyle/>
          <a:p>
            <a:pPr algn="l"/>
            <a:r>
              <a:rPr sz="6400" b="1" i="0">
                <a:solidFill>
                  <a:srgbClr val="10B981"/>
                </a:solidFill>
                <a:latin typeface="Calibri"/>
              </a:rPr>
              <a:t>ShopSense</a:t>
            </a:r>
          </a:p>
        </p:txBody>
      </p:sp>
      <p:sp>
        <p:nvSpPr>
          <p:cNvPr id="9" name="TextBox 8"/>
          <p:cNvSpPr txBox="1"/>
          <p:nvPr/>
        </p:nvSpPr>
        <p:spPr>
          <a:xfrm>
            <a:off x="457200" y="2176272"/>
            <a:ext cx="10058400" cy="640080"/>
          </a:xfrm>
          <a:prstGeom prst="rect">
            <a:avLst/>
          </a:prstGeom>
          <a:noFill/>
        </p:spPr>
        <p:txBody>
          <a:bodyPr wrap="square">
            <a:spAutoFit/>
          </a:bodyPr>
          <a:lstStyle/>
          <a:p>
            <a:pPr algn="l"/>
            <a:r>
              <a:rPr sz="2600" b="0" i="0">
                <a:solidFill>
                  <a:srgbClr val="FFFFFF"/>
                </a:solidFill>
                <a:latin typeface="Calibri"/>
              </a:rPr>
              <a:t>AI-Powered Multi-Vendor Inventory Analytics Platform</a:t>
            </a:r>
          </a:p>
        </p:txBody>
      </p:sp>
      <p:sp>
        <p:nvSpPr>
          <p:cNvPr id="10" name="Rectangle 9"/>
          <p:cNvSpPr/>
          <p:nvPr/>
        </p:nvSpPr>
        <p:spPr>
          <a:xfrm>
            <a:off x="457200" y="2907792"/>
            <a:ext cx="6858000" cy="502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54096"/>
            <a:ext cx="7315200" cy="502920"/>
          </a:xfrm>
          <a:prstGeom prst="rect">
            <a:avLst/>
          </a:prstGeom>
          <a:noFill/>
        </p:spPr>
        <p:txBody>
          <a:bodyPr wrap="square">
            <a:spAutoFit/>
          </a:bodyPr>
          <a:lstStyle/>
          <a:p>
            <a:pPr algn="l"/>
            <a:r>
              <a:rPr sz="2200" b="1" i="0">
                <a:solidFill>
                  <a:srgbClr val="FBBF24"/>
                </a:solidFill>
                <a:latin typeface="Calibri"/>
              </a:rPr>
              <a:t>Milestone 1 Presentation</a:t>
            </a:r>
          </a:p>
        </p:txBody>
      </p:sp>
      <p:sp>
        <p:nvSpPr>
          <p:cNvPr id="12" name="TextBox 11"/>
          <p:cNvSpPr txBox="1"/>
          <p:nvPr/>
        </p:nvSpPr>
        <p:spPr>
          <a:xfrm>
            <a:off x="457200" y="3694176"/>
            <a:ext cx="8229600" cy="438912"/>
          </a:xfrm>
          <a:prstGeom prst="rect">
            <a:avLst/>
          </a:prstGeom>
          <a:noFill/>
        </p:spPr>
        <p:txBody>
          <a:bodyPr wrap="square">
            <a:spAutoFit/>
          </a:bodyPr>
          <a:lstStyle/>
          <a:p>
            <a:pPr algn="l"/>
            <a:r>
              <a:rPr sz="1900" b="0" i="0">
                <a:solidFill>
                  <a:srgbClr val="CBD5E1"/>
                </a:solidFill>
                <a:latin typeface="Calibri"/>
              </a:rPr>
              <a:t>Backend :  FastAPI  +  PostgreSQL</a:t>
            </a:r>
          </a:p>
        </p:txBody>
      </p:sp>
      <p:sp>
        <p:nvSpPr>
          <p:cNvPr id="13" name="TextBox 12"/>
          <p:cNvSpPr txBox="1"/>
          <p:nvPr/>
        </p:nvSpPr>
        <p:spPr>
          <a:xfrm>
            <a:off x="457200" y="4169664"/>
            <a:ext cx="8229600" cy="438912"/>
          </a:xfrm>
          <a:prstGeom prst="rect">
            <a:avLst/>
          </a:prstGeom>
          <a:noFill/>
        </p:spPr>
        <p:txBody>
          <a:bodyPr wrap="square">
            <a:spAutoFit/>
          </a:bodyPr>
          <a:lstStyle/>
          <a:p>
            <a:pPr algn="l"/>
            <a:r>
              <a:rPr sz="1900" b="0" i="0">
                <a:solidFill>
                  <a:srgbClr val="CBD5E1"/>
                </a:solidFill>
                <a:latin typeface="Calibri"/>
              </a:rPr>
              <a:t>Frontend :  HTML5  +  CSS3  +  JavaScript</a:t>
            </a:r>
          </a:p>
        </p:txBody>
      </p:sp>
      <p:sp>
        <p:nvSpPr>
          <p:cNvPr id="14" name="TextBox 13"/>
          <p:cNvSpPr txBox="1"/>
          <p:nvPr/>
        </p:nvSpPr>
        <p:spPr>
          <a:xfrm>
            <a:off x="457200" y="4645152"/>
            <a:ext cx="8229600" cy="438912"/>
          </a:xfrm>
          <a:prstGeom prst="rect">
            <a:avLst/>
          </a:prstGeom>
          <a:noFill/>
        </p:spPr>
        <p:txBody>
          <a:bodyPr wrap="square">
            <a:spAutoFit/>
          </a:bodyPr>
          <a:lstStyle/>
          <a:p>
            <a:pPr algn="l"/>
            <a:r>
              <a:rPr sz="1900" b="0" i="0">
                <a:solidFill>
                  <a:srgbClr val="CBD5E1"/>
                </a:solidFill>
                <a:latin typeface="Calibri"/>
              </a:rPr>
              <a:t>Date :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Problem Statement &amp; Overview</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Why ShopSense was built and what it does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The Problem</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200" b="0">
                <a:solidFill>
                  <a:srgbClr val="10B981"/>
                </a:solidFill>
                <a:latin typeface="Calibri"/>
              </a:rPr>
              <a:t>●  </a:t>
            </a:r>
            <a:r>
              <a:rPr sz="2200" b="0">
                <a:solidFill>
                  <a:srgbClr val="CBD5E1"/>
                </a:solidFill>
                <a:latin typeface="Calibri"/>
              </a:rPr>
              <a:t>No centralized inventory system for vendors</a:t>
            </a:r>
          </a:p>
          <a:p>
            <a:pPr>
              <a:spcBef>
                <a:spcPts val="300"/>
              </a:spcBef>
              <a:spcAft>
                <a:spcPts val="900"/>
              </a:spcAft>
            </a:pPr>
            <a:r>
              <a:rPr sz="2200" b="0">
                <a:solidFill>
                  <a:srgbClr val="10B981"/>
                </a:solidFill>
                <a:latin typeface="Calibri"/>
              </a:rPr>
              <a:t>●  </a:t>
            </a:r>
            <a:r>
              <a:rPr sz="2200" b="0">
                <a:solidFill>
                  <a:srgbClr val="CBD5E1"/>
                </a:solidFill>
                <a:latin typeface="Calibri"/>
              </a:rPr>
              <a:t>No data isolation — vendors see each other's stock</a:t>
            </a:r>
          </a:p>
          <a:p>
            <a:pPr>
              <a:spcBef>
                <a:spcPts val="300"/>
              </a:spcBef>
              <a:spcAft>
                <a:spcPts val="900"/>
              </a:spcAft>
            </a:pPr>
            <a:r>
              <a:rPr sz="2200" b="0">
                <a:solidFill>
                  <a:srgbClr val="10B981"/>
                </a:solidFill>
                <a:latin typeface="Calibri"/>
              </a:rPr>
              <a:t>●  </a:t>
            </a:r>
            <a:r>
              <a:rPr sz="2200" b="0">
                <a:solidFill>
                  <a:srgbClr val="CBD5E1"/>
                </a:solidFill>
                <a:latin typeface="Calibri"/>
              </a:rPr>
              <a:t>No admin visibility over the marketplace</a:t>
            </a:r>
          </a:p>
          <a:p>
            <a:pPr>
              <a:spcBef>
                <a:spcPts val="300"/>
              </a:spcBef>
              <a:spcAft>
                <a:spcPts val="900"/>
              </a:spcAft>
            </a:pPr>
            <a:r>
              <a:rPr sz="2200" b="0">
                <a:solidFill>
                  <a:srgbClr val="10B981"/>
                </a:solidFill>
                <a:latin typeface="Calibri"/>
              </a:rPr>
              <a:t>●  </a:t>
            </a:r>
            <a:r>
              <a:rPr sz="2200" b="0">
                <a:solidFill>
                  <a:srgbClr val="CBD5E1"/>
                </a:solidFill>
                <a:latin typeface="Calibri"/>
              </a:rPr>
              <a:t>Zero demand forecasting — stock-outs happen</a:t>
            </a:r>
          </a:p>
        </p:txBody>
      </p:sp>
      <p:sp>
        <p:nvSpPr>
          <p:cNvPr id="7" name="Rectangle 6"/>
          <p:cNvSpPr/>
          <p:nvPr/>
        </p:nvSpPr>
        <p:spPr>
          <a:xfrm>
            <a:off x="5961888" y="1874520"/>
            <a:ext cx="45720" cy="4617720"/>
          </a:xfrm>
          <a:prstGeom prst="rect">
            <a:avLst/>
          </a:prstGeom>
          <a:solidFill>
            <a:srgbClr val="1E4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72200" y="1874520"/>
            <a:ext cx="5760720" cy="402336"/>
          </a:xfrm>
          <a:prstGeom prst="rect">
            <a:avLst/>
          </a:prstGeom>
          <a:noFill/>
        </p:spPr>
        <p:txBody>
          <a:bodyPr wrap="square">
            <a:spAutoFit/>
          </a:bodyPr>
          <a:lstStyle/>
          <a:p>
            <a:pPr algn="l"/>
            <a:r>
              <a:rPr sz="2300" b="1" i="0">
                <a:solidFill>
                  <a:srgbClr val="10B981"/>
                </a:solidFill>
                <a:latin typeface="Calibri"/>
              </a:rPr>
              <a:t>ShopSense Solution</a:t>
            </a:r>
          </a:p>
        </p:txBody>
      </p:sp>
      <p:sp>
        <p:nvSpPr>
          <p:cNvPr id="9" name="TextBox 8"/>
          <p:cNvSpPr txBox="1"/>
          <p:nvPr/>
        </p:nvSpPr>
        <p:spPr>
          <a:xfrm>
            <a:off x="6172200" y="2331720"/>
            <a:ext cx="5760720" cy="3200400"/>
          </a:xfrm>
          <a:prstGeom prst="rect">
            <a:avLst/>
          </a:prstGeom>
          <a:noFill/>
        </p:spPr>
        <p:txBody>
          <a:bodyPr wrap="square">
            <a:spAutoFit/>
          </a:bodyPr>
          <a:lstStyle/>
          <a:p>
            <a:pPr>
              <a:spcBef>
                <a:spcPts val="300"/>
              </a:spcBef>
              <a:spcAft>
                <a:spcPts val="900"/>
              </a:spcAft>
            </a:pPr>
            <a:r>
              <a:rPr sz="2200" b="0">
                <a:solidFill>
                  <a:srgbClr val="10B981"/>
                </a:solidFill>
                <a:latin typeface="Calibri"/>
              </a:rPr>
              <a:t>●  </a:t>
            </a:r>
            <a:r>
              <a:rPr sz="2200" b="0">
                <a:solidFill>
                  <a:srgbClr val="CBD5E1"/>
                </a:solidFill>
                <a:latin typeface="Calibri"/>
              </a:rPr>
              <a:t>Role-based portals — Vendor &amp; Admin</a:t>
            </a:r>
          </a:p>
          <a:p>
            <a:pPr>
              <a:spcBef>
                <a:spcPts val="300"/>
              </a:spcBef>
              <a:spcAft>
                <a:spcPts val="900"/>
              </a:spcAft>
            </a:pPr>
            <a:r>
              <a:rPr sz="2200" b="0">
                <a:solidFill>
                  <a:srgbClr val="10B981"/>
                </a:solidFill>
                <a:latin typeface="Calibri"/>
              </a:rPr>
              <a:t>●  </a:t>
            </a:r>
            <a:r>
              <a:rPr sz="2200" b="0">
                <a:solidFill>
                  <a:srgbClr val="CBD5E1"/>
                </a:solidFill>
                <a:latin typeface="Calibri"/>
              </a:rPr>
              <a:t>Strict per-vendor data isolation (PostgreSQL)</a:t>
            </a:r>
          </a:p>
          <a:p>
            <a:pPr>
              <a:spcBef>
                <a:spcPts val="300"/>
              </a:spcBef>
              <a:spcAft>
                <a:spcPts val="900"/>
              </a:spcAft>
            </a:pPr>
            <a:r>
              <a:rPr sz="2200" b="0">
                <a:solidFill>
                  <a:srgbClr val="10B981"/>
                </a:solidFill>
                <a:latin typeface="Calibri"/>
              </a:rPr>
              <a:t>●  </a:t>
            </a:r>
            <a:r>
              <a:rPr sz="2200" b="0">
                <a:solidFill>
                  <a:srgbClr val="CBD5E1"/>
                </a:solidFill>
                <a:latin typeface="Calibri"/>
              </a:rPr>
              <a:t>Admin control console with live metrics</a:t>
            </a:r>
          </a:p>
          <a:p>
            <a:pPr>
              <a:spcBef>
                <a:spcPts val="300"/>
              </a:spcBef>
              <a:spcAft>
                <a:spcPts val="900"/>
              </a:spcAft>
            </a:pPr>
            <a:r>
              <a:rPr sz="2200" b="0">
                <a:solidFill>
                  <a:srgbClr val="10B981"/>
                </a:solidFill>
                <a:latin typeface="Calibri"/>
              </a:rPr>
              <a:t>●  </a:t>
            </a:r>
            <a:r>
              <a:rPr sz="2200" b="0">
                <a:solidFill>
                  <a:srgbClr val="CBD5E1"/>
                </a:solidFill>
                <a:latin typeface="Calibri"/>
              </a:rPr>
              <a:t>ARIMA demand forecasting + AI analytics</a:t>
            </a:r>
          </a:p>
          <a:p>
            <a:pPr>
              <a:spcBef>
                <a:spcPts val="300"/>
              </a:spcBef>
              <a:spcAft>
                <a:spcPts val="900"/>
              </a:spcAft>
            </a:pPr>
            <a:r>
              <a:rPr sz="2200" b="0">
                <a:solidFill>
                  <a:srgbClr val="10B981"/>
                </a:solidFill>
                <a:latin typeface="Calibri"/>
              </a:rPr>
              <a:t>●  </a:t>
            </a:r>
            <a:r>
              <a:rPr sz="2200" b="0">
                <a:solidFill>
                  <a:srgbClr val="CBD5E1"/>
                </a:solidFill>
                <a:latin typeface="Calibri"/>
              </a:rPr>
              <a:t>Full REST API with Swagger documentation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Milestone 1 Objectives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Six core deliverables targeted for this phase</a:t>
            </a:r>
          </a:p>
        </p:txBody>
      </p:sp>
      <p:sp>
        <p:nvSpPr>
          <p:cNvPr id="5" name="Rectangle 4"/>
          <p:cNvSpPr/>
          <p:nvPr/>
        </p:nvSpPr>
        <p:spPr>
          <a:xfrm>
            <a:off x="5029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0240"/>
            <a:ext cx="594360" cy="594360"/>
          </a:xfrm>
          <a:prstGeom prst="rect">
            <a:avLst/>
          </a:prstGeom>
          <a:noFill/>
        </p:spPr>
        <p:txBody>
          <a:bodyPr wrap="square">
            <a:spAutoFit/>
          </a:bodyPr>
          <a:lstStyle/>
          <a:p>
            <a:pPr algn="ctr"/>
            <a:r>
              <a:rPr sz="1700" b="1" i="0">
                <a:solidFill>
                  <a:srgbClr val="0D1B2A"/>
                </a:solidFill>
                <a:latin typeface="Calibri"/>
              </a:rPr>
              <a:t>01</a:t>
            </a:r>
          </a:p>
        </p:txBody>
      </p:sp>
      <p:sp>
        <p:nvSpPr>
          <p:cNvPr id="7" name="Rectangle 6"/>
          <p:cNvSpPr/>
          <p:nvPr/>
        </p:nvSpPr>
        <p:spPr>
          <a:xfrm>
            <a:off x="1170432" y="187452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965960"/>
            <a:ext cx="5212080" cy="402336"/>
          </a:xfrm>
          <a:prstGeom prst="rect">
            <a:avLst/>
          </a:prstGeom>
          <a:noFill/>
        </p:spPr>
        <p:txBody>
          <a:bodyPr wrap="square">
            <a:spAutoFit/>
          </a:bodyPr>
          <a:lstStyle/>
          <a:p>
            <a:pPr algn="l"/>
            <a:r>
              <a:rPr sz="2000" b="1" i="0">
                <a:solidFill>
                  <a:srgbClr val="FFFFFF"/>
                </a:solidFill>
                <a:latin typeface="Calibri"/>
              </a:rPr>
              <a:t>Secure Multi-Vendor Authentication</a:t>
            </a:r>
          </a:p>
        </p:txBody>
      </p:sp>
      <p:sp>
        <p:nvSpPr>
          <p:cNvPr id="9" name="TextBox 8"/>
          <p:cNvSpPr txBox="1"/>
          <p:nvPr/>
        </p:nvSpPr>
        <p:spPr>
          <a:xfrm>
            <a:off x="1280160" y="2441448"/>
            <a:ext cx="5212080" cy="777240"/>
          </a:xfrm>
          <a:prstGeom prst="rect">
            <a:avLst/>
          </a:prstGeom>
          <a:noFill/>
        </p:spPr>
        <p:txBody>
          <a:bodyPr wrap="square">
            <a:spAutoFit/>
          </a:bodyPr>
          <a:lstStyle/>
          <a:p>
            <a:pPr algn="l"/>
            <a:r>
              <a:rPr sz="1700" b="0" i="0">
                <a:solidFill>
                  <a:srgbClr val="CBD5E1"/>
                </a:solidFill>
                <a:latin typeface="Calibri"/>
              </a:rPr>
              <a:t>Vendor registration + login with SHA-256 password hashing in PostgreSQL</a:t>
            </a:r>
          </a:p>
        </p:txBody>
      </p:sp>
      <p:sp>
        <p:nvSpPr>
          <p:cNvPr id="10" name="Rectangle 9"/>
          <p:cNvSpPr/>
          <p:nvPr/>
        </p:nvSpPr>
        <p:spPr>
          <a:xfrm>
            <a:off x="64465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920240"/>
            <a:ext cx="594360" cy="594360"/>
          </a:xfrm>
          <a:prstGeom prst="rect">
            <a:avLst/>
          </a:prstGeom>
          <a:noFill/>
        </p:spPr>
        <p:txBody>
          <a:bodyPr wrap="square">
            <a:spAutoFit/>
          </a:bodyPr>
          <a:lstStyle/>
          <a:p>
            <a:pPr algn="ctr"/>
            <a:r>
              <a:rPr sz="1700" b="1" i="0">
                <a:solidFill>
                  <a:srgbClr val="0D1B2A"/>
                </a:solidFill>
                <a:latin typeface="Calibri"/>
              </a:rPr>
              <a:t>02</a:t>
            </a:r>
          </a:p>
        </p:txBody>
      </p:sp>
      <p:sp>
        <p:nvSpPr>
          <p:cNvPr id="12" name="Rectangle 11"/>
          <p:cNvSpPr/>
          <p:nvPr/>
        </p:nvSpPr>
        <p:spPr>
          <a:xfrm>
            <a:off x="7114032" y="187452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965960"/>
            <a:ext cx="5212080" cy="402336"/>
          </a:xfrm>
          <a:prstGeom prst="rect">
            <a:avLst/>
          </a:prstGeom>
          <a:noFill/>
        </p:spPr>
        <p:txBody>
          <a:bodyPr wrap="square">
            <a:spAutoFit/>
          </a:bodyPr>
          <a:lstStyle/>
          <a:p>
            <a:pPr algn="l"/>
            <a:r>
              <a:rPr sz="2000" b="1" i="0">
                <a:solidFill>
                  <a:srgbClr val="FFFFFF"/>
                </a:solidFill>
                <a:latin typeface="Calibri"/>
              </a:rPr>
              <a:t>Vendor Data Isolation</a:t>
            </a:r>
          </a:p>
        </p:txBody>
      </p:sp>
      <p:sp>
        <p:nvSpPr>
          <p:cNvPr id="14" name="TextBox 13"/>
          <p:cNvSpPr txBox="1"/>
          <p:nvPr/>
        </p:nvSpPr>
        <p:spPr>
          <a:xfrm>
            <a:off x="7223760" y="2441448"/>
            <a:ext cx="5212080" cy="777240"/>
          </a:xfrm>
          <a:prstGeom prst="rect">
            <a:avLst/>
          </a:prstGeom>
          <a:noFill/>
        </p:spPr>
        <p:txBody>
          <a:bodyPr wrap="square">
            <a:spAutoFit/>
          </a:bodyPr>
          <a:lstStyle/>
          <a:p>
            <a:pPr algn="l"/>
            <a:r>
              <a:rPr sz="1700" b="0" i="0">
                <a:solidFill>
                  <a:srgbClr val="CBD5E1"/>
                </a:solidFill>
                <a:latin typeface="Calibri"/>
              </a:rPr>
              <a:t>Every vendor sees and manages only their own products via vendor_id filtering</a:t>
            </a:r>
          </a:p>
        </p:txBody>
      </p:sp>
      <p:sp>
        <p:nvSpPr>
          <p:cNvPr id="15" name="Rectangle 14"/>
          <p:cNvSpPr/>
          <p:nvPr/>
        </p:nvSpPr>
        <p:spPr>
          <a:xfrm>
            <a:off x="502920" y="342900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29000"/>
            <a:ext cx="594360" cy="594360"/>
          </a:xfrm>
          <a:prstGeom prst="rect">
            <a:avLst/>
          </a:prstGeom>
          <a:noFill/>
        </p:spPr>
        <p:txBody>
          <a:bodyPr wrap="square">
            <a:spAutoFit/>
          </a:bodyPr>
          <a:lstStyle/>
          <a:p>
            <a:pPr algn="ctr"/>
            <a:r>
              <a:rPr sz="1700" b="1" i="0">
                <a:solidFill>
                  <a:srgbClr val="0D1B2A"/>
                </a:solidFill>
                <a:latin typeface="Calibri"/>
              </a:rPr>
              <a:t>03</a:t>
            </a:r>
          </a:p>
        </p:txBody>
      </p:sp>
      <p:sp>
        <p:nvSpPr>
          <p:cNvPr id="17" name="Rectangle 16"/>
          <p:cNvSpPr/>
          <p:nvPr/>
        </p:nvSpPr>
        <p:spPr>
          <a:xfrm>
            <a:off x="1170432" y="338328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3474720"/>
            <a:ext cx="5212080" cy="402336"/>
          </a:xfrm>
          <a:prstGeom prst="rect">
            <a:avLst/>
          </a:prstGeom>
          <a:noFill/>
        </p:spPr>
        <p:txBody>
          <a:bodyPr wrap="square">
            <a:spAutoFit/>
          </a:bodyPr>
          <a:lstStyle/>
          <a:p>
            <a:pPr algn="l"/>
            <a:r>
              <a:rPr sz="2000" b="1" i="0">
                <a:solidFill>
                  <a:srgbClr val="FFFFFF"/>
                </a:solidFill>
                <a:latin typeface="Calibri"/>
              </a:rPr>
              <a:t>Product &amp; Inventory Management</a:t>
            </a:r>
          </a:p>
        </p:txBody>
      </p:sp>
      <p:sp>
        <p:nvSpPr>
          <p:cNvPr id="19" name="TextBox 18"/>
          <p:cNvSpPr txBox="1"/>
          <p:nvPr/>
        </p:nvSpPr>
        <p:spPr>
          <a:xfrm>
            <a:off x="1280160" y="3950208"/>
            <a:ext cx="5212080" cy="777240"/>
          </a:xfrm>
          <a:prstGeom prst="rect">
            <a:avLst/>
          </a:prstGeom>
          <a:noFill/>
        </p:spPr>
        <p:txBody>
          <a:bodyPr wrap="square">
            <a:spAutoFit/>
          </a:bodyPr>
          <a:lstStyle/>
          <a:p>
            <a:pPr algn="l"/>
            <a:r>
              <a:rPr sz="1700" b="0" i="0">
                <a:solidFill>
                  <a:srgbClr val="CBD5E1"/>
                </a:solidFill>
                <a:latin typeface="Calibri"/>
              </a:rPr>
              <a:t>Full CRUD — Add, Edit, Delete products with live stock status tracking</a:t>
            </a:r>
          </a:p>
        </p:txBody>
      </p:sp>
      <p:sp>
        <p:nvSpPr>
          <p:cNvPr id="20" name="Rectangle 19"/>
          <p:cNvSpPr/>
          <p:nvPr/>
        </p:nvSpPr>
        <p:spPr>
          <a:xfrm>
            <a:off x="6446520" y="342900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429000"/>
            <a:ext cx="594360" cy="594360"/>
          </a:xfrm>
          <a:prstGeom prst="rect">
            <a:avLst/>
          </a:prstGeom>
          <a:noFill/>
        </p:spPr>
        <p:txBody>
          <a:bodyPr wrap="square">
            <a:spAutoFit/>
          </a:bodyPr>
          <a:lstStyle/>
          <a:p>
            <a:pPr algn="ctr"/>
            <a:r>
              <a:rPr sz="1700" b="1" i="0">
                <a:solidFill>
                  <a:srgbClr val="0D1B2A"/>
                </a:solidFill>
                <a:latin typeface="Calibri"/>
              </a:rPr>
              <a:t>04</a:t>
            </a:r>
          </a:p>
        </p:txBody>
      </p:sp>
      <p:sp>
        <p:nvSpPr>
          <p:cNvPr id="22" name="Rectangle 21"/>
          <p:cNvSpPr/>
          <p:nvPr/>
        </p:nvSpPr>
        <p:spPr>
          <a:xfrm>
            <a:off x="7114032" y="338328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0" y="3474720"/>
            <a:ext cx="5212080" cy="402336"/>
          </a:xfrm>
          <a:prstGeom prst="rect">
            <a:avLst/>
          </a:prstGeom>
          <a:noFill/>
        </p:spPr>
        <p:txBody>
          <a:bodyPr wrap="square">
            <a:spAutoFit/>
          </a:bodyPr>
          <a:lstStyle/>
          <a:p>
            <a:pPr algn="l"/>
            <a:r>
              <a:rPr sz="2000" b="1" i="0">
                <a:solidFill>
                  <a:srgbClr val="FFFFFF"/>
                </a:solidFill>
                <a:latin typeface="Calibri"/>
              </a:rPr>
              <a:t>Admin Marketplace Dashboard</a:t>
            </a:r>
          </a:p>
        </p:txBody>
      </p:sp>
      <p:sp>
        <p:nvSpPr>
          <p:cNvPr id="24" name="TextBox 23"/>
          <p:cNvSpPr txBox="1"/>
          <p:nvPr/>
        </p:nvSpPr>
        <p:spPr>
          <a:xfrm>
            <a:off x="7223760" y="3950208"/>
            <a:ext cx="5212080" cy="777240"/>
          </a:xfrm>
          <a:prstGeom prst="rect">
            <a:avLst/>
          </a:prstGeom>
          <a:noFill/>
        </p:spPr>
        <p:txBody>
          <a:bodyPr wrap="square">
            <a:spAutoFit/>
          </a:bodyPr>
          <a:lstStyle/>
          <a:p>
            <a:pPr algn="l"/>
            <a:r>
              <a:rPr sz="1700" b="0" i="0">
                <a:solidFill>
                  <a:srgbClr val="CBD5E1"/>
                </a:solidFill>
                <a:latin typeface="Calibri"/>
              </a:rPr>
              <a:t>Admin views all vendors, all products, and revenue metrics from PostgreSQL</a:t>
            </a:r>
          </a:p>
        </p:txBody>
      </p:sp>
      <p:sp>
        <p:nvSpPr>
          <p:cNvPr id="25" name="Rectangle 24"/>
          <p:cNvSpPr/>
          <p:nvPr/>
        </p:nvSpPr>
        <p:spPr>
          <a:xfrm>
            <a:off x="502920" y="493776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937760"/>
            <a:ext cx="594360" cy="594360"/>
          </a:xfrm>
          <a:prstGeom prst="rect">
            <a:avLst/>
          </a:prstGeom>
          <a:noFill/>
        </p:spPr>
        <p:txBody>
          <a:bodyPr wrap="square">
            <a:spAutoFit/>
          </a:bodyPr>
          <a:lstStyle/>
          <a:p>
            <a:pPr algn="ctr"/>
            <a:r>
              <a:rPr sz="1700" b="1" i="0">
                <a:solidFill>
                  <a:srgbClr val="0D1B2A"/>
                </a:solidFill>
                <a:latin typeface="Calibri"/>
              </a:rPr>
              <a:t>05</a:t>
            </a:r>
          </a:p>
        </p:txBody>
      </p:sp>
      <p:sp>
        <p:nvSpPr>
          <p:cNvPr id="27" name="Rectangle 26"/>
          <p:cNvSpPr/>
          <p:nvPr/>
        </p:nvSpPr>
        <p:spPr>
          <a:xfrm>
            <a:off x="1170432" y="489204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4983480"/>
            <a:ext cx="5212080" cy="402336"/>
          </a:xfrm>
          <a:prstGeom prst="rect">
            <a:avLst/>
          </a:prstGeom>
          <a:noFill/>
        </p:spPr>
        <p:txBody>
          <a:bodyPr wrap="square">
            <a:spAutoFit/>
          </a:bodyPr>
          <a:lstStyle/>
          <a:p>
            <a:pPr algn="l"/>
            <a:r>
              <a:rPr sz="2000" b="1" i="0">
                <a:solidFill>
                  <a:srgbClr val="FFFFFF"/>
                </a:solidFill>
                <a:latin typeface="Calibri"/>
              </a:rPr>
              <a:t>REST API Development</a:t>
            </a:r>
          </a:p>
        </p:txBody>
      </p:sp>
      <p:sp>
        <p:nvSpPr>
          <p:cNvPr id="29" name="TextBox 28"/>
          <p:cNvSpPr txBox="1"/>
          <p:nvPr/>
        </p:nvSpPr>
        <p:spPr>
          <a:xfrm>
            <a:off x="1280160" y="5458968"/>
            <a:ext cx="5212080" cy="777240"/>
          </a:xfrm>
          <a:prstGeom prst="rect">
            <a:avLst/>
          </a:prstGeom>
          <a:noFill/>
        </p:spPr>
        <p:txBody>
          <a:bodyPr wrap="square">
            <a:spAutoFit/>
          </a:bodyPr>
          <a:lstStyle/>
          <a:p>
            <a:pPr algn="l"/>
            <a:r>
              <a:rPr sz="1700" b="0" i="0">
                <a:solidFill>
                  <a:srgbClr val="CBD5E1"/>
                </a:solidFill>
                <a:latin typeface="Calibri"/>
              </a:rPr>
              <a:t>16 endpoints across Vendors, Admin, Products, Analytics — documented in Swagger</a:t>
            </a:r>
          </a:p>
        </p:txBody>
      </p:sp>
      <p:sp>
        <p:nvSpPr>
          <p:cNvPr id="30" name="Rectangle 29"/>
          <p:cNvSpPr/>
          <p:nvPr/>
        </p:nvSpPr>
        <p:spPr>
          <a:xfrm>
            <a:off x="6446520" y="493776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937760"/>
            <a:ext cx="594360" cy="594360"/>
          </a:xfrm>
          <a:prstGeom prst="rect">
            <a:avLst/>
          </a:prstGeom>
          <a:noFill/>
        </p:spPr>
        <p:txBody>
          <a:bodyPr wrap="square">
            <a:spAutoFit/>
          </a:bodyPr>
          <a:lstStyle/>
          <a:p>
            <a:pPr algn="ctr"/>
            <a:r>
              <a:rPr sz="1700" b="1" i="0">
                <a:solidFill>
                  <a:srgbClr val="0D1B2A"/>
                </a:solidFill>
                <a:latin typeface="Calibri"/>
              </a:rPr>
              <a:t>06</a:t>
            </a:r>
          </a:p>
        </p:txBody>
      </p:sp>
      <p:sp>
        <p:nvSpPr>
          <p:cNvPr id="32" name="Rectangle 31"/>
          <p:cNvSpPr/>
          <p:nvPr/>
        </p:nvSpPr>
        <p:spPr>
          <a:xfrm>
            <a:off x="7114032" y="4892040"/>
            <a:ext cx="5440680" cy="1417320"/>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0" y="4983480"/>
            <a:ext cx="5212080" cy="402336"/>
          </a:xfrm>
          <a:prstGeom prst="rect">
            <a:avLst/>
          </a:prstGeom>
          <a:noFill/>
        </p:spPr>
        <p:txBody>
          <a:bodyPr wrap="square">
            <a:spAutoFit/>
          </a:bodyPr>
          <a:lstStyle/>
          <a:p>
            <a:pPr algn="l"/>
            <a:r>
              <a:rPr sz="2000" b="1" i="0">
                <a:solidFill>
                  <a:srgbClr val="FFFFFF"/>
                </a:solidFill>
                <a:latin typeface="Calibri"/>
              </a:rPr>
              <a:t>AI Analytics Foundation</a:t>
            </a:r>
          </a:p>
        </p:txBody>
      </p:sp>
      <p:sp>
        <p:nvSpPr>
          <p:cNvPr id="34" name="TextBox 33"/>
          <p:cNvSpPr txBox="1"/>
          <p:nvPr/>
        </p:nvSpPr>
        <p:spPr>
          <a:xfrm>
            <a:off x="7223760" y="5458968"/>
            <a:ext cx="5212080" cy="777240"/>
          </a:xfrm>
          <a:prstGeom prst="rect">
            <a:avLst/>
          </a:prstGeom>
          <a:noFill/>
        </p:spPr>
        <p:txBody>
          <a:bodyPr wrap="square">
            <a:spAutoFit/>
          </a:bodyPr>
          <a:lstStyle/>
          <a:p>
            <a:pPr algn="l"/>
            <a:r>
              <a:rPr sz="1700" b="0" i="0">
                <a:solidFill>
                  <a:srgbClr val="CBD5E1"/>
                </a:solidFill>
                <a:latin typeface="Calibri"/>
              </a:rPr>
              <a:t>ARIMA demand forecasting + Gemini LLM sentiment analysis integrated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Technology Stack</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Technologies powering the complete ShopSense platform</a:t>
            </a:r>
          </a:p>
        </p:txBody>
      </p:sp>
      <p:sp>
        <p:nvSpPr>
          <p:cNvPr id="5" name="Rectangle 4"/>
          <p:cNvSpPr/>
          <p:nvPr/>
        </p:nvSpPr>
        <p:spPr>
          <a:xfrm>
            <a:off x="502920" y="1874520"/>
            <a:ext cx="11183112" cy="1115568"/>
          </a:xfrm>
          <a:prstGeom prst="rect">
            <a:avLst/>
          </a:prstGeom>
          <a:solidFill>
            <a:srgbClr val="163A5C"/>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874520"/>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874520"/>
            <a:ext cx="1600200" cy="1115568"/>
          </a:xfrm>
          <a:prstGeom prst="rect">
            <a:avLst/>
          </a:prstGeom>
          <a:noFill/>
        </p:spPr>
        <p:txBody>
          <a:bodyPr wrap="square">
            <a:spAutoFit/>
          </a:bodyPr>
          <a:lstStyle/>
          <a:p>
            <a:pPr algn="ctr"/>
            <a:r>
              <a:rPr sz="1300" b="1" i="0">
                <a:solidFill>
                  <a:srgbClr val="0D1B2A"/>
                </a:solidFill>
                <a:latin typeface="Calibri"/>
              </a:rPr>
              <a:t>FRONTEND</a:t>
            </a:r>
          </a:p>
        </p:txBody>
      </p:sp>
      <p:sp>
        <p:nvSpPr>
          <p:cNvPr id="8" name="TextBox 7"/>
          <p:cNvSpPr txBox="1"/>
          <p:nvPr/>
        </p:nvSpPr>
        <p:spPr>
          <a:xfrm>
            <a:off x="2286000" y="1965960"/>
            <a:ext cx="2926080" cy="384048"/>
          </a:xfrm>
          <a:prstGeom prst="rect">
            <a:avLst/>
          </a:prstGeom>
          <a:noFill/>
        </p:spPr>
        <p:txBody>
          <a:bodyPr wrap="square">
            <a:spAutoFit/>
          </a:bodyPr>
          <a:lstStyle/>
          <a:p>
            <a:pPr algn="l"/>
            <a:r>
              <a:rPr sz="2000" b="1" i="0">
                <a:solidFill>
                  <a:srgbClr val="10B981"/>
                </a:solidFill>
                <a:latin typeface="Calibri"/>
              </a:rPr>
              <a:t>Frontend Layer</a:t>
            </a:r>
          </a:p>
        </p:txBody>
      </p:sp>
      <p:sp>
        <p:nvSpPr>
          <p:cNvPr id="9" name="TextBox 8"/>
          <p:cNvSpPr txBox="1"/>
          <p:nvPr/>
        </p:nvSpPr>
        <p:spPr>
          <a:xfrm>
            <a:off x="2286000" y="2423160"/>
            <a:ext cx="9235440" cy="475488"/>
          </a:xfrm>
          <a:prstGeom prst="rect">
            <a:avLst/>
          </a:prstGeom>
          <a:noFill/>
        </p:spPr>
        <p:txBody>
          <a:bodyPr wrap="square">
            <a:spAutoFit/>
          </a:bodyPr>
          <a:lstStyle/>
          <a:p>
            <a:pPr algn="l"/>
            <a:r>
              <a:rPr sz="2000" b="0" i="0">
                <a:solidFill>
                  <a:srgbClr val="FFFFFF"/>
                </a:solidFill>
                <a:latin typeface="Calibri"/>
              </a:rPr>
              <a:t>HTML5  |  Vanilla CSS  |  JavaScript ES6+  |  Fetch API</a:t>
            </a:r>
          </a:p>
        </p:txBody>
      </p:sp>
      <p:sp>
        <p:nvSpPr>
          <p:cNvPr id="10" name="Rectangle 9"/>
          <p:cNvSpPr/>
          <p:nvPr/>
        </p:nvSpPr>
        <p:spPr>
          <a:xfrm>
            <a:off x="502920" y="3081528"/>
            <a:ext cx="11183112" cy="111556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081528"/>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3081528"/>
            <a:ext cx="1600200" cy="1115568"/>
          </a:xfrm>
          <a:prstGeom prst="rect">
            <a:avLst/>
          </a:prstGeom>
          <a:noFill/>
        </p:spPr>
        <p:txBody>
          <a:bodyPr wrap="square">
            <a:spAutoFit/>
          </a:bodyPr>
          <a:lstStyle/>
          <a:p>
            <a:pPr algn="ctr"/>
            <a:r>
              <a:rPr sz="1300" b="1" i="0">
                <a:solidFill>
                  <a:srgbClr val="0D1B2A"/>
                </a:solidFill>
                <a:latin typeface="Calibri"/>
              </a:rPr>
              <a:t>BACKEND</a:t>
            </a:r>
          </a:p>
        </p:txBody>
      </p:sp>
      <p:sp>
        <p:nvSpPr>
          <p:cNvPr id="13" name="TextBox 12"/>
          <p:cNvSpPr txBox="1"/>
          <p:nvPr/>
        </p:nvSpPr>
        <p:spPr>
          <a:xfrm>
            <a:off x="2286000" y="3172968"/>
            <a:ext cx="2926080" cy="384048"/>
          </a:xfrm>
          <a:prstGeom prst="rect">
            <a:avLst/>
          </a:prstGeom>
          <a:noFill/>
        </p:spPr>
        <p:txBody>
          <a:bodyPr wrap="square">
            <a:spAutoFit/>
          </a:bodyPr>
          <a:lstStyle/>
          <a:p>
            <a:pPr algn="l"/>
            <a:r>
              <a:rPr sz="2000" b="1" i="0">
                <a:solidFill>
                  <a:srgbClr val="10B981"/>
                </a:solidFill>
                <a:latin typeface="Calibri"/>
              </a:rPr>
              <a:t>Backend Layer</a:t>
            </a:r>
          </a:p>
        </p:txBody>
      </p:sp>
      <p:sp>
        <p:nvSpPr>
          <p:cNvPr id="14" name="TextBox 13"/>
          <p:cNvSpPr txBox="1"/>
          <p:nvPr/>
        </p:nvSpPr>
        <p:spPr>
          <a:xfrm>
            <a:off x="2286000" y="3630168"/>
            <a:ext cx="9235440" cy="475488"/>
          </a:xfrm>
          <a:prstGeom prst="rect">
            <a:avLst/>
          </a:prstGeom>
          <a:noFill/>
        </p:spPr>
        <p:txBody>
          <a:bodyPr wrap="square">
            <a:spAutoFit/>
          </a:bodyPr>
          <a:lstStyle/>
          <a:p>
            <a:pPr algn="l"/>
            <a:r>
              <a:rPr sz="2000" b="0" i="0">
                <a:solidFill>
                  <a:srgbClr val="FFFFFF"/>
                </a:solidFill>
                <a:latin typeface="Calibri"/>
              </a:rPr>
              <a:t>Python 3.11  |  FastAPI  |  Uvicorn (ASGI)  |  Pydantic v2</a:t>
            </a:r>
          </a:p>
        </p:txBody>
      </p:sp>
      <p:sp>
        <p:nvSpPr>
          <p:cNvPr id="15" name="Rectangle 14"/>
          <p:cNvSpPr/>
          <p:nvPr/>
        </p:nvSpPr>
        <p:spPr>
          <a:xfrm>
            <a:off x="502920" y="4288536"/>
            <a:ext cx="11183112" cy="1115568"/>
          </a:xfrm>
          <a:prstGeom prst="rect">
            <a:avLst/>
          </a:prstGeom>
          <a:solidFill>
            <a:srgbClr val="163A5C"/>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4288536"/>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4288536"/>
            <a:ext cx="1600200" cy="1115568"/>
          </a:xfrm>
          <a:prstGeom prst="rect">
            <a:avLst/>
          </a:prstGeom>
          <a:noFill/>
        </p:spPr>
        <p:txBody>
          <a:bodyPr wrap="square">
            <a:spAutoFit/>
          </a:bodyPr>
          <a:lstStyle/>
          <a:p>
            <a:pPr algn="ctr"/>
            <a:r>
              <a:rPr sz="1300" b="1" i="0">
                <a:solidFill>
                  <a:srgbClr val="0D1B2A"/>
                </a:solidFill>
                <a:latin typeface="Calibri"/>
              </a:rPr>
              <a:t>DATABASE</a:t>
            </a:r>
          </a:p>
        </p:txBody>
      </p:sp>
      <p:sp>
        <p:nvSpPr>
          <p:cNvPr id="18" name="TextBox 17"/>
          <p:cNvSpPr txBox="1"/>
          <p:nvPr/>
        </p:nvSpPr>
        <p:spPr>
          <a:xfrm>
            <a:off x="2286000" y="4379976"/>
            <a:ext cx="2926080" cy="384048"/>
          </a:xfrm>
          <a:prstGeom prst="rect">
            <a:avLst/>
          </a:prstGeom>
          <a:noFill/>
        </p:spPr>
        <p:txBody>
          <a:bodyPr wrap="square">
            <a:spAutoFit/>
          </a:bodyPr>
          <a:lstStyle/>
          <a:p>
            <a:pPr algn="l"/>
            <a:r>
              <a:rPr sz="2000" b="1" i="0">
                <a:solidFill>
                  <a:srgbClr val="10B981"/>
                </a:solidFill>
                <a:latin typeface="Calibri"/>
              </a:rPr>
              <a:t>Database Layer</a:t>
            </a:r>
          </a:p>
        </p:txBody>
      </p:sp>
      <p:sp>
        <p:nvSpPr>
          <p:cNvPr id="19" name="TextBox 18"/>
          <p:cNvSpPr txBox="1"/>
          <p:nvPr/>
        </p:nvSpPr>
        <p:spPr>
          <a:xfrm>
            <a:off x="2286000" y="4837176"/>
            <a:ext cx="9235440" cy="475488"/>
          </a:xfrm>
          <a:prstGeom prst="rect">
            <a:avLst/>
          </a:prstGeom>
          <a:noFill/>
        </p:spPr>
        <p:txBody>
          <a:bodyPr wrap="square">
            <a:spAutoFit/>
          </a:bodyPr>
          <a:lstStyle/>
          <a:p>
            <a:pPr algn="l"/>
            <a:r>
              <a:rPr sz="2000" b="0" i="0">
                <a:solidFill>
                  <a:srgbClr val="FFFFFF"/>
                </a:solidFill>
                <a:latin typeface="Calibri"/>
              </a:rPr>
              <a:t>PostgreSQL  |  SQLAlchemy ORM  |  psycopg2  |  SHA-256 Hashing</a:t>
            </a:r>
          </a:p>
        </p:txBody>
      </p:sp>
      <p:sp>
        <p:nvSpPr>
          <p:cNvPr id="20" name="Rectangle 19"/>
          <p:cNvSpPr/>
          <p:nvPr/>
        </p:nvSpPr>
        <p:spPr>
          <a:xfrm>
            <a:off x="502920" y="5495544"/>
            <a:ext cx="11183112" cy="111556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5495544"/>
            <a:ext cx="1600200" cy="111556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5495544"/>
            <a:ext cx="1600200" cy="1115568"/>
          </a:xfrm>
          <a:prstGeom prst="rect">
            <a:avLst/>
          </a:prstGeom>
          <a:noFill/>
        </p:spPr>
        <p:txBody>
          <a:bodyPr wrap="square">
            <a:spAutoFit/>
          </a:bodyPr>
          <a:lstStyle/>
          <a:p>
            <a:pPr algn="ctr"/>
            <a:r>
              <a:rPr sz="1300" b="1" i="0">
                <a:solidFill>
                  <a:srgbClr val="0D1B2A"/>
                </a:solidFill>
                <a:latin typeface="Calibri"/>
              </a:rPr>
              <a:t>AI / ML</a:t>
            </a:r>
          </a:p>
        </p:txBody>
      </p:sp>
      <p:sp>
        <p:nvSpPr>
          <p:cNvPr id="23" name="TextBox 22"/>
          <p:cNvSpPr txBox="1"/>
          <p:nvPr/>
        </p:nvSpPr>
        <p:spPr>
          <a:xfrm>
            <a:off x="2286000" y="5586984"/>
            <a:ext cx="2926080" cy="384048"/>
          </a:xfrm>
          <a:prstGeom prst="rect">
            <a:avLst/>
          </a:prstGeom>
          <a:noFill/>
        </p:spPr>
        <p:txBody>
          <a:bodyPr wrap="square">
            <a:spAutoFit/>
          </a:bodyPr>
          <a:lstStyle/>
          <a:p>
            <a:pPr algn="l"/>
            <a:r>
              <a:rPr sz="2000" b="1" i="0">
                <a:solidFill>
                  <a:srgbClr val="10B981"/>
                </a:solidFill>
                <a:latin typeface="Calibri"/>
              </a:rPr>
              <a:t>AI &amp; Analytics Layer</a:t>
            </a:r>
          </a:p>
        </p:txBody>
      </p:sp>
      <p:sp>
        <p:nvSpPr>
          <p:cNvPr id="24" name="TextBox 23"/>
          <p:cNvSpPr txBox="1"/>
          <p:nvPr/>
        </p:nvSpPr>
        <p:spPr>
          <a:xfrm>
            <a:off x="2286000" y="6044184"/>
            <a:ext cx="9235440" cy="475488"/>
          </a:xfrm>
          <a:prstGeom prst="rect">
            <a:avLst/>
          </a:prstGeom>
          <a:noFill/>
        </p:spPr>
        <p:txBody>
          <a:bodyPr wrap="square">
            <a:spAutoFit/>
          </a:bodyPr>
          <a:lstStyle/>
          <a:p>
            <a:pPr algn="l"/>
            <a:r>
              <a:rPr sz="2000" b="0" i="0">
                <a:solidFill>
                  <a:srgbClr val="FFFFFF"/>
                </a:solidFill>
                <a:latin typeface="Calibri"/>
              </a:rPr>
              <a:t>ARIMA (statsmodels)  |  Google Gemini LLM  |  REST Analytics APIs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Backend Architecture</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FastAPI project structure and module responsibilities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Project Structure</a:t>
            </a:r>
          </a:p>
        </p:txBody>
      </p:sp>
      <p:sp>
        <p:nvSpPr>
          <p:cNvPr id="6" name="TextBox 5"/>
          <p:cNvSpPr txBox="1"/>
          <p:nvPr/>
        </p:nvSpPr>
        <p:spPr>
          <a:xfrm>
            <a:off x="502920" y="2331720"/>
            <a:ext cx="5257800" cy="384048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main.py — App entry, startup, static file serving</a:t>
            </a:r>
          </a:p>
          <a:p>
            <a:pPr>
              <a:spcBef>
                <a:spcPts val="300"/>
              </a:spcBef>
              <a:spcAft>
                <a:spcPts val="900"/>
              </a:spcAft>
            </a:pPr>
            <a:r>
              <a:rPr sz="2100" b="0">
                <a:solidFill>
                  <a:srgbClr val="10B981"/>
                </a:solidFill>
                <a:latin typeface="Calibri"/>
              </a:rPr>
              <a:t>●  </a:t>
            </a:r>
            <a:r>
              <a:rPr sz="2100" b="0">
                <a:solidFill>
                  <a:srgbClr val="CBD5E1"/>
                </a:solidFill>
                <a:latin typeface="Calibri"/>
              </a:rPr>
              <a:t>database.py — PostgreSQL connection &amp; sessions</a:t>
            </a:r>
          </a:p>
          <a:p>
            <a:pPr>
              <a:spcBef>
                <a:spcPts val="300"/>
              </a:spcBef>
              <a:spcAft>
                <a:spcPts val="900"/>
              </a:spcAft>
            </a:pPr>
            <a:r>
              <a:rPr sz="2100" b="0">
                <a:solidFill>
                  <a:srgbClr val="10B981"/>
                </a:solidFill>
                <a:latin typeface="Calibri"/>
              </a:rPr>
              <a:t>●  </a:t>
            </a:r>
            <a:r>
              <a:rPr sz="2100" b="0">
                <a:solidFill>
                  <a:srgbClr val="CBD5E1"/>
                </a:solidFill>
                <a:latin typeface="Calibri"/>
              </a:rPr>
              <a:t>models.py — SQLAlchemy ORM table definitions</a:t>
            </a:r>
          </a:p>
          <a:p>
            <a:pPr>
              <a:spcBef>
                <a:spcPts val="300"/>
              </a:spcBef>
              <a:spcAft>
                <a:spcPts val="900"/>
              </a:spcAft>
            </a:pPr>
            <a:r>
              <a:rPr sz="2100" b="0">
                <a:solidFill>
                  <a:srgbClr val="10B981"/>
                </a:solidFill>
                <a:latin typeface="Calibri"/>
              </a:rPr>
              <a:t>●  </a:t>
            </a:r>
            <a:r>
              <a:rPr sz="2100" b="0">
                <a:solidFill>
                  <a:srgbClr val="CBD5E1"/>
                </a:solidFill>
                <a:latin typeface="Calibri"/>
              </a:rPr>
              <a:t>routers/ — API endpoint handlers</a:t>
            </a:r>
          </a:p>
          <a:p>
            <a:pPr>
              <a:spcBef>
                <a:spcPts val="300"/>
              </a:spcBef>
              <a:spcAft>
                <a:spcPts val="900"/>
              </a:spcAft>
            </a:pPr>
            <a:r>
              <a:rPr sz="2100" b="0">
                <a:solidFill>
                  <a:srgbClr val="10B981"/>
                </a:solidFill>
                <a:latin typeface="Calibri"/>
              </a:rPr>
              <a:t>●  </a:t>
            </a:r>
            <a:r>
              <a:rPr sz="2100" b="0">
                <a:solidFill>
                  <a:srgbClr val="CBD5E1"/>
                </a:solidFill>
                <a:latin typeface="Calibri"/>
              </a:rPr>
              <a:t>schemas/ — Pydantic request/response models</a:t>
            </a:r>
          </a:p>
          <a:p>
            <a:pPr>
              <a:spcBef>
                <a:spcPts val="300"/>
              </a:spcBef>
              <a:spcAft>
                <a:spcPts val="900"/>
              </a:spcAft>
            </a:pPr>
            <a:r>
              <a:rPr sz="2100" b="0">
                <a:solidFill>
                  <a:srgbClr val="10B981"/>
                </a:solidFill>
                <a:latin typeface="Calibri"/>
              </a:rPr>
              <a:t>●  </a:t>
            </a:r>
            <a:r>
              <a:rPr sz="2100" b="0">
                <a:solidFill>
                  <a:srgbClr val="CBD5E1"/>
                </a:solidFill>
                <a:latin typeface="Calibri"/>
              </a:rPr>
              <a:t>crud/ — Database operation functions</a:t>
            </a:r>
          </a:p>
        </p:txBody>
      </p:sp>
      <p:sp>
        <p:nvSpPr>
          <p:cNvPr id="7" name="Rectangle 6"/>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0" name="TextBox 9"/>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VS Code — Backend File Structure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Database Design</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PostgreSQL schema — tables, columns and relationships</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PostgreSQL Tables (5)</a:t>
            </a:r>
          </a:p>
        </p:txBody>
      </p:sp>
      <p:sp>
        <p:nvSpPr>
          <p:cNvPr id="6" name="TextBox 5"/>
          <p:cNvSpPr txBox="1"/>
          <p:nvPr/>
        </p:nvSpPr>
        <p:spPr>
          <a:xfrm>
            <a:off x="502920" y="2331720"/>
            <a:ext cx="5257800" cy="3017520"/>
          </a:xfrm>
          <a:prstGeom prst="rect">
            <a:avLst/>
          </a:prstGeom>
          <a:noFill/>
        </p:spPr>
        <p:txBody>
          <a:bodyPr wrap="square">
            <a:spAutoFit/>
          </a:bodyPr>
          <a:lstStyle/>
          <a:p>
            <a:pPr>
              <a:spcBef>
                <a:spcPts val="300"/>
              </a:spcBef>
              <a:spcAft>
                <a:spcPts val="900"/>
              </a:spcAft>
            </a:pPr>
            <a:r>
              <a:rPr sz="2100" b="0" dirty="0">
                <a:solidFill>
                  <a:srgbClr val="10B981"/>
                </a:solidFill>
                <a:latin typeface="Calibri"/>
              </a:rPr>
              <a:t>●  </a:t>
            </a:r>
            <a:r>
              <a:rPr sz="2100" b="0" dirty="0">
                <a:solidFill>
                  <a:srgbClr val="CBD5E1"/>
                </a:solidFill>
                <a:latin typeface="Calibri"/>
              </a:rPr>
              <a:t>vendors — Store name, owner, email, hashed password</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products — Name, price, stock, category, </a:t>
            </a:r>
            <a:r>
              <a:rPr sz="2100" b="0" dirty="0" err="1">
                <a:solidFill>
                  <a:srgbClr val="CBD5E1"/>
                </a:solidFill>
                <a:latin typeface="Calibri"/>
              </a:rPr>
              <a:t>vendor_id</a:t>
            </a:r>
            <a:r>
              <a:rPr sz="2100" b="0" dirty="0">
                <a:solidFill>
                  <a:srgbClr val="CBD5E1"/>
                </a:solidFill>
                <a:latin typeface="Calibri"/>
              </a:rPr>
              <a:t> (FK)</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transactions — Sale records linked to product &amp; vendor</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reviews — Customer reviews with rating and sentiment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admins — Admin credentials (separate from vendors)</a:t>
            </a:r>
          </a:p>
        </p:txBody>
      </p:sp>
      <p:sp>
        <p:nvSpPr>
          <p:cNvPr id="7" name="Rectangle 6"/>
          <p:cNvSpPr/>
          <p:nvPr/>
        </p:nvSpPr>
        <p:spPr>
          <a:xfrm>
            <a:off x="502920" y="5440680"/>
            <a:ext cx="5257800" cy="109728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532120"/>
            <a:ext cx="5056632" cy="365760"/>
          </a:xfrm>
          <a:prstGeom prst="rect">
            <a:avLst/>
          </a:prstGeom>
          <a:noFill/>
        </p:spPr>
        <p:txBody>
          <a:bodyPr wrap="square">
            <a:spAutoFit/>
          </a:bodyPr>
          <a:lstStyle/>
          <a:p>
            <a:pPr algn="l"/>
            <a:r>
              <a:rPr sz="1900" b="1" i="0">
                <a:solidFill>
                  <a:srgbClr val="10B981"/>
                </a:solidFill>
                <a:latin typeface="Calibri"/>
              </a:rPr>
              <a:t>Key Relationship</a:t>
            </a:r>
          </a:p>
        </p:txBody>
      </p:sp>
      <p:sp>
        <p:nvSpPr>
          <p:cNvPr id="9" name="TextBox 8"/>
          <p:cNvSpPr txBox="1"/>
          <p:nvPr/>
        </p:nvSpPr>
        <p:spPr>
          <a:xfrm>
            <a:off x="649224" y="5934456"/>
            <a:ext cx="5056632" cy="530352"/>
          </a:xfrm>
          <a:prstGeom prst="rect">
            <a:avLst/>
          </a:prstGeom>
          <a:noFill/>
        </p:spPr>
        <p:txBody>
          <a:bodyPr wrap="square">
            <a:spAutoFit/>
          </a:bodyPr>
          <a:lstStyle/>
          <a:p>
            <a:pPr algn="l"/>
            <a:r>
              <a:rPr sz="1800" b="0" i="0">
                <a:solidFill>
                  <a:srgbClr val="CBD5E1"/>
                </a:solidFill>
                <a:latin typeface="Calibri"/>
              </a:rPr>
              <a:t>vendors (1) ──── products (many)
vendor_id foreign key enforces data isolation</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pgAdmin — Tables: vendors, products, reviews, transactions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23444"/>
            <a:ext cx="11430000" cy="804672"/>
          </a:xfrm>
          <a:prstGeom prst="rect">
            <a:avLst/>
          </a:prstGeom>
          <a:noFill/>
        </p:spPr>
        <p:txBody>
          <a:bodyPr wrap="square">
            <a:spAutoFit/>
          </a:bodyPr>
          <a:lstStyle/>
          <a:p>
            <a:pPr algn="l"/>
            <a:r>
              <a:rPr sz="3600" b="1" i="0" dirty="0">
                <a:solidFill>
                  <a:srgbClr val="FFFFFF"/>
                </a:solidFill>
                <a:latin typeface="Calibri"/>
              </a:rPr>
              <a:t>REST API Development</a:t>
            </a:r>
          </a:p>
        </p:txBody>
      </p:sp>
      <p:sp>
        <p:nvSpPr>
          <p:cNvPr id="5" name="TextBox 4"/>
          <p:cNvSpPr txBox="1"/>
          <p:nvPr/>
        </p:nvSpPr>
        <p:spPr>
          <a:xfrm>
            <a:off x="502920" y="771750"/>
            <a:ext cx="5257800" cy="402336"/>
          </a:xfrm>
          <a:prstGeom prst="rect">
            <a:avLst/>
          </a:prstGeom>
          <a:noFill/>
        </p:spPr>
        <p:txBody>
          <a:bodyPr wrap="square">
            <a:spAutoFit/>
          </a:bodyPr>
          <a:lstStyle/>
          <a:p>
            <a:pPr algn="l"/>
            <a:r>
              <a:rPr sz="2300" b="1" i="0" dirty="0">
                <a:solidFill>
                  <a:srgbClr val="10B981"/>
                </a:solidFill>
                <a:latin typeface="Calibri"/>
              </a:rPr>
              <a:t>API Modules</a:t>
            </a:r>
          </a:p>
        </p:txBody>
      </p:sp>
      <p:sp>
        <p:nvSpPr>
          <p:cNvPr id="6" name="TextBox 5"/>
          <p:cNvSpPr txBox="1"/>
          <p:nvPr/>
        </p:nvSpPr>
        <p:spPr>
          <a:xfrm>
            <a:off x="502920" y="1125791"/>
            <a:ext cx="5257800" cy="2816156"/>
          </a:xfrm>
          <a:prstGeom prst="rect">
            <a:avLst/>
          </a:prstGeom>
          <a:noFill/>
        </p:spPr>
        <p:txBody>
          <a:bodyPr wrap="square">
            <a:spAutoFit/>
          </a:bodyPr>
          <a:lstStyle/>
          <a:p>
            <a:pPr>
              <a:spcBef>
                <a:spcPts val="300"/>
              </a:spcBef>
              <a:spcAft>
                <a:spcPts val="900"/>
              </a:spcAft>
            </a:pPr>
            <a:r>
              <a:rPr sz="2100" b="0" dirty="0">
                <a:solidFill>
                  <a:srgbClr val="10B981"/>
                </a:solidFill>
                <a:latin typeface="Calibri"/>
              </a:rPr>
              <a:t>●  </a:t>
            </a:r>
            <a:r>
              <a:rPr sz="2100" b="0" dirty="0">
                <a:solidFill>
                  <a:srgbClr val="CBD5E1"/>
                </a:solidFill>
                <a:latin typeface="Calibri"/>
              </a:rPr>
              <a:t>Vendors — Register, Login, Get All</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Admin — Dashboard metrics, Vendor management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Products — Full CRUD (filtered by </a:t>
            </a:r>
            <a:r>
              <a:rPr sz="2100" b="0" dirty="0" err="1">
                <a:solidFill>
                  <a:srgbClr val="CBD5E1"/>
                </a:solidFill>
                <a:latin typeface="Calibri"/>
              </a:rPr>
              <a:t>vendor_id</a:t>
            </a:r>
            <a:r>
              <a:rPr sz="2100" b="0" dirty="0">
                <a:solidFill>
                  <a:srgbClr val="CBD5E1"/>
                </a:solidFill>
                <a:latin typeface="Calibri"/>
              </a:rPr>
              <a:t>)</a:t>
            </a:r>
          </a:p>
          <a:p>
            <a:pPr>
              <a:spcBef>
                <a:spcPts val="300"/>
              </a:spcBef>
              <a:spcAft>
                <a:spcPts val="900"/>
              </a:spcAft>
            </a:pPr>
            <a:r>
              <a:rPr sz="2100" b="0" dirty="0">
                <a:solidFill>
                  <a:srgbClr val="10B981"/>
                </a:solidFill>
                <a:latin typeface="Calibri"/>
              </a:rPr>
              <a:t>●  </a:t>
            </a:r>
            <a:r>
              <a:rPr sz="2100" b="0" dirty="0">
                <a:solidFill>
                  <a:srgbClr val="CBD5E1"/>
                </a:solidFill>
                <a:latin typeface="Calibri"/>
              </a:rPr>
              <a:t>Analytics — ARIMA Forecast, Gemini Sentiment</a:t>
            </a:r>
          </a:p>
        </p:txBody>
      </p:sp>
      <p:sp>
        <p:nvSpPr>
          <p:cNvPr id="7" name="TextBox 6"/>
          <p:cNvSpPr txBox="1"/>
          <p:nvPr/>
        </p:nvSpPr>
        <p:spPr>
          <a:xfrm>
            <a:off x="457200" y="3880504"/>
            <a:ext cx="5257800" cy="402336"/>
          </a:xfrm>
          <a:prstGeom prst="rect">
            <a:avLst/>
          </a:prstGeom>
          <a:noFill/>
        </p:spPr>
        <p:txBody>
          <a:bodyPr wrap="square">
            <a:spAutoFit/>
          </a:bodyPr>
          <a:lstStyle/>
          <a:p>
            <a:pPr algn="l"/>
            <a:r>
              <a:rPr sz="2300" b="1" i="0" dirty="0">
                <a:solidFill>
                  <a:srgbClr val="10B981"/>
                </a:solidFill>
                <a:latin typeface="Calibri"/>
              </a:rPr>
              <a:t>Key Endpoints</a:t>
            </a:r>
          </a:p>
        </p:txBody>
      </p:sp>
      <p:sp>
        <p:nvSpPr>
          <p:cNvPr id="8" name="TextBox 7"/>
          <p:cNvSpPr txBox="1"/>
          <p:nvPr/>
        </p:nvSpPr>
        <p:spPr>
          <a:xfrm>
            <a:off x="457200" y="4279392"/>
            <a:ext cx="5257800" cy="2103120"/>
          </a:xfrm>
          <a:prstGeom prst="rect">
            <a:avLst/>
          </a:prstGeom>
          <a:noFill/>
        </p:spPr>
        <p:txBody>
          <a:bodyPr wrap="square">
            <a:spAutoFit/>
          </a:bodyPr>
          <a:lstStyle/>
          <a:p>
            <a:pPr>
              <a:spcBef>
                <a:spcPts val="300"/>
              </a:spcBef>
              <a:spcAft>
                <a:spcPts val="900"/>
              </a:spcAft>
            </a:pPr>
            <a:r>
              <a:rPr sz="1900" b="0" dirty="0">
                <a:solidFill>
                  <a:srgbClr val="10B981"/>
                </a:solidFill>
                <a:latin typeface="Calibri"/>
              </a:rPr>
              <a:t>●  </a:t>
            </a:r>
            <a:r>
              <a:rPr sz="1900" b="0" dirty="0">
                <a:solidFill>
                  <a:srgbClr val="CBD5E1"/>
                </a:solidFill>
                <a:latin typeface="Calibri"/>
              </a:rPr>
              <a:t>POST /vendors/register — New vendor signup</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POST /vendors/login — Auth (404 / 401 errors)</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/admin/dashboard — Marketplace metrics</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/admin/products — All products + vendor name</a:t>
            </a:r>
          </a:p>
          <a:p>
            <a:pPr>
              <a:spcBef>
                <a:spcPts val="300"/>
              </a:spcBef>
              <a:spcAft>
                <a:spcPts val="900"/>
              </a:spcAft>
            </a:pPr>
            <a:r>
              <a:rPr sz="1900" b="0" dirty="0">
                <a:solidFill>
                  <a:srgbClr val="10B981"/>
                </a:solidFill>
                <a:latin typeface="Calibri"/>
              </a:rPr>
              <a:t>●  </a:t>
            </a:r>
            <a:r>
              <a:rPr sz="1900" b="0" dirty="0">
                <a:solidFill>
                  <a:srgbClr val="CBD5E1"/>
                </a:solidFill>
                <a:latin typeface="Calibri"/>
              </a:rPr>
              <a:t>GET  /analytics/forecast/{id} — ARIMA forecast</a:t>
            </a:r>
          </a:p>
        </p:txBody>
      </p:sp>
      <p:sp>
        <p:nvSpPr>
          <p:cNvPr id="9" name="Rectangle 8"/>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2" name="TextBox 11"/>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Swagger UI at http://127.0.0.1:8000/docs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Vendor Dashboard</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Isolated workspace — each vendor manages their own store</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Vendor Workspace Features</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Inventory Health Summary — Available / Low / Out of Stock</a:t>
            </a:r>
          </a:p>
          <a:p>
            <a:pPr>
              <a:spcBef>
                <a:spcPts val="300"/>
              </a:spcBef>
              <a:spcAft>
                <a:spcPts val="900"/>
              </a:spcAft>
            </a:pPr>
            <a:r>
              <a:rPr sz="2100" b="0">
                <a:solidFill>
                  <a:srgbClr val="10B981"/>
                </a:solidFill>
                <a:latin typeface="Calibri"/>
              </a:rPr>
              <a:t>●  </a:t>
            </a:r>
            <a:r>
              <a:rPr sz="2100" b="0">
                <a:solidFill>
                  <a:srgbClr val="CBD5E1"/>
                </a:solidFill>
                <a:latin typeface="Calibri"/>
              </a:rPr>
              <a:t>Add, Edit, Delete products with image support</a:t>
            </a:r>
          </a:p>
          <a:p>
            <a:pPr>
              <a:spcBef>
                <a:spcPts val="300"/>
              </a:spcBef>
              <a:spcAft>
                <a:spcPts val="900"/>
              </a:spcAft>
            </a:pPr>
            <a:r>
              <a:rPr sz="2100" b="0">
                <a:solidFill>
                  <a:srgbClr val="10B981"/>
                </a:solidFill>
                <a:latin typeface="Calibri"/>
              </a:rPr>
              <a:t>●  </a:t>
            </a:r>
            <a:r>
              <a:rPr sz="2100" b="0">
                <a:solidFill>
                  <a:srgbClr val="CBD5E1"/>
                </a:solidFill>
                <a:latin typeface="Calibri"/>
              </a:rPr>
              <a:t>Search, Category filter, and Price/Stock sorting</a:t>
            </a:r>
          </a:p>
          <a:p>
            <a:pPr>
              <a:spcBef>
                <a:spcPts val="300"/>
              </a:spcBef>
              <a:spcAft>
                <a:spcPts val="900"/>
              </a:spcAft>
            </a:pPr>
            <a:r>
              <a:rPr sz="2100" b="0">
                <a:solidFill>
                  <a:srgbClr val="10B981"/>
                </a:solidFill>
                <a:latin typeface="Calibri"/>
              </a:rPr>
              <a:t>●  </a:t>
            </a:r>
            <a:r>
              <a:rPr sz="2100" b="0">
                <a:solidFill>
                  <a:srgbClr val="CBD5E1"/>
                </a:solidFill>
                <a:latin typeface="Calibri"/>
              </a:rPr>
              <a:t>Analytics — ARIMA Forecast + Gemini AI Sentiment</a:t>
            </a:r>
          </a:p>
          <a:p>
            <a:pPr>
              <a:spcBef>
                <a:spcPts val="300"/>
              </a:spcBef>
              <a:spcAft>
                <a:spcPts val="900"/>
              </a:spcAft>
            </a:pPr>
            <a:r>
              <a:rPr sz="2100" b="0">
                <a:solidFill>
                  <a:srgbClr val="10B981"/>
                </a:solidFill>
                <a:latin typeface="Calibri"/>
              </a:rPr>
              <a:t>●  </a:t>
            </a:r>
            <a:r>
              <a:rPr sz="2100" b="0">
                <a:solidFill>
                  <a:srgbClr val="CBD5E1"/>
                </a:solidFill>
                <a:latin typeface="Calibri"/>
              </a:rPr>
              <a:t>Media Library and Settings panel</a:t>
            </a:r>
          </a:p>
        </p:txBody>
      </p:sp>
      <p:sp>
        <p:nvSpPr>
          <p:cNvPr id="7" name="Rectangle 6"/>
          <p:cNvSpPr/>
          <p:nvPr/>
        </p:nvSpPr>
        <p:spPr>
          <a:xfrm>
            <a:off x="502920" y="5166360"/>
            <a:ext cx="5257800" cy="109728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257800"/>
            <a:ext cx="5056632" cy="365760"/>
          </a:xfrm>
          <a:prstGeom prst="rect">
            <a:avLst/>
          </a:prstGeom>
          <a:noFill/>
        </p:spPr>
        <p:txBody>
          <a:bodyPr wrap="square">
            <a:spAutoFit/>
          </a:bodyPr>
          <a:lstStyle/>
          <a:p>
            <a:pPr algn="l"/>
            <a:r>
              <a:rPr sz="1900" b="1" i="0">
                <a:solidFill>
                  <a:srgbClr val="10B981"/>
                </a:solidFill>
                <a:latin typeface="Calibri"/>
              </a:rPr>
              <a:t>Authentication &amp; Isolation</a:t>
            </a:r>
          </a:p>
        </p:txBody>
      </p:sp>
      <p:sp>
        <p:nvSpPr>
          <p:cNvPr id="9" name="TextBox 8"/>
          <p:cNvSpPr txBox="1"/>
          <p:nvPr/>
        </p:nvSpPr>
        <p:spPr>
          <a:xfrm>
            <a:off x="649224" y="5660136"/>
            <a:ext cx="5056632" cy="530352"/>
          </a:xfrm>
          <a:prstGeom prst="rect">
            <a:avLst/>
          </a:prstGeom>
          <a:noFill/>
        </p:spPr>
        <p:txBody>
          <a:bodyPr wrap="square">
            <a:spAutoFit/>
          </a:bodyPr>
          <a:lstStyle/>
          <a:p>
            <a:pPr algn="l"/>
            <a:r>
              <a:rPr sz="1800" b="0" i="0">
                <a:solidFill>
                  <a:srgbClr val="CBD5E1"/>
                </a:solidFill>
                <a:latin typeface="Calibri"/>
              </a:rPr>
              <a:t>Vendor A NEVER sees Vendor B's products.
All data filtered by vendor_id in PostgreSQL.</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Vendor Dashboard — Inventory Health + Product Table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Admin Control Console</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Marketplace oversight — all vendors, products and revenue in one view</a:t>
            </a:r>
          </a:p>
        </p:txBody>
      </p:sp>
      <p:sp>
        <p:nvSpPr>
          <p:cNvPr id="5" name="TextBox 4"/>
          <p:cNvSpPr txBox="1"/>
          <p:nvPr/>
        </p:nvSpPr>
        <p:spPr>
          <a:xfrm>
            <a:off x="502920" y="1874520"/>
            <a:ext cx="5257800" cy="402336"/>
          </a:xfrm>
          <a:prstGeom prst="rect">
            <a:avLst/>
          </a:prstGeom>
          <a:noFill/>
        </p:spPr>
        <p:txBody>
          <a:bodyPr wrap="square">
            <a:spAutoFit/>
          </a:bodyPr>
          <a:lstStyle/>
          <a:p>
            <a:pPr algn="l"/>
            <a:r>
              <a:rPr sz="2300" b="1" i="0">
                <a:solidFill>
                  <a:srgbClr val="10B981"/>
                </a:solidFill>
                <a:latin typeface="Calibri"/>
              </a:rPr>
              <a:t>Admin Dashboard Features</a:t>
            </a:r>
          </a:p>
        </p:txBody>
      </p:sp>
      <p:sp>
        <p:nvSpPr>
          <p:cNvPr id="6" name="TextBox 5"/>
          <p:cNvSpPr txBox="1"/>
          <p:nvPr/>
        </p:nvSpPr>
        <p:spPr>
          <a:xfrm>
            <a:off x="502920" y="2331720"/>
            <a:ext cx="5257800" cy="2743200"/>
          </a:xfrm>
          <a:prstGeom prst="rect">
            <a:avLst/>
          </a:prstGeom>
          <a:noFill/>
        </p:spPr>
        <p:txBody>
          <a:bodyPr wrap="square">
            <a:spAutoFit/>
          </a:bodyPr>
          <a:lstStyle/>
          <a:p>
            <a:pPr>
              <a:spcBef>
                <a:spcPts val="300"/>
              </a:spcBef>
              <a:spcAft>
                <a:spcPts val="900"/>
              </a:spcAft>
            </a:pPr>
            <a:r>
              <a:rPr sz="2100" b="0">
                <a:solidFill>
                  <a:srgbClr val="10B981"/>
                </a:solidFill>
                <a:latin typeface="Calibri"/>
              </a:rPr>
              <a:t>●  </a:t>
            </a:r>
            <a:r>
              <a:rPr sz="2100" b="0">
                <a:solidFill>
                  <a:srgbClr val="CBD5E1"/>
                </a:solidFill>
                <a:latin typeface="Calibri"/>
              </a:rPr>
              <a:t>Live metrics — Total Vendors, Products, Revenue</a:t>
            </a:r>
          </a:p>
          <a:p>
            <a:pPr>
              <a:spcBef>
                <a:spcPts val="300"/>
              </a:spcBef>
              <a:spcAft>
                <a:spcPts val="900"/>
              </a:spcAft>
            </a:pPr>
            <a:r>
              <a:rPr sz="2100" b="0">
                <a:solidFill>
                  <a:srgbClr val="10B981"/>
                </a:solidFill>
                <a:latin typeface="Calibri"/>
              </a:rPr>
              <a:t>●  </a:t>
            </a:r>
            <a:r>
              <a:rPr sz="2100" b="0">
                <a:solidFill>
                  <a:srgbClr val="CBD5E1"/>
                </a:solidFill>
                <a:latin typeface="Calibri"/>
              </a:rPr>
              <a:t>Registered Vendors table — Enable / Disable / Delete</a:t>
            </a:r>
          </a:p>
          <a:p>
            <a:pPr>
              <a:spcBef>
                <a:spcPts val="300"/>
              </a:spcBef>
              <a:spcAft>
                <a:spcPts val="900"/>
              </a:spcAft>
            </a:pPr>
            <a:r>
              <a:rPr sz="2100" b="0">
                <a:solidFill>
                  <a:srgbClr val="10B981"/>
                </a:solidFill>
                <a:latin typeface="Calibri"/>
              </a:rPr>
              <a:t>●  </a:t>
            </a:r>
            <a:r>
              <a:rPr sz="2100" b="0">
                <a:solidFill>
                  <a:srgbClr val="CBD5E1"/>
                </a:solidFill>
                <a:latin typeface="Calibri"/>
              </a:rPr>
              <a:t>Global Marketplace Catalog — all products with Vendor Name</a:t>
            </a:r>
          </a:p>
          <a:p>
            <a:pPr>
              <a:spcBef>
                <a:spcPts val="300"/>
              </a:spcBef>
              <a:spcAft>
                <a:spcPts val="900"/>
              </a:spcAft>
            </a:pPr>
            <a:r>
              <a:rPr sz="2100" b="0">
                <a:solidFill>
                  <a:srgbClr val="10B981"/>
                </a:solidFill>
                <a:latin typeface="Calibri"/>
              </a:rPr>
              <a:t>●  </a:t>
            </a:r>
            <a:r>
              <a:rPr sz="2100" b="0">
                <a:solidFill>
                  <a:srgbClr val="CBD5E1"/>
                </a:solidFill>
                <a:latin typeface="Calibri"/>
              </a:rPr>
              <a:t>Stock Value and Low Stock alerts across all vendors</a:t>
            </a:r>
          </a:p>
          <a:p>
            <a:pPr>
              <a:spcBef>
                <a:spcPts val="300"/>
              </a:spcBef>
              <a:spcAft>
                <a:spcPts val="900"/>
              </a:spcAft>
            </a:pPr>
            <a:r>
              <a:rPr sz="2100" b="0">
                <a:solidFill>
                  <a:srgbClr val="10B981"/>
                </a:solidFill>
                <a:latin typeface="Calibri"/>
              </a:rPr>
              <a:t>●  </a:t>
            </a:r>
            <a:r>
              <a:rPr sz="2100" b="0">
                <a:solidFill>
                  <a:srgbClr val="CBD5E1"/>
                </a:solidFill>
                <a:latin typeface="Calibri"/>
              </a:rPr>
              <a:t>Admin cannot add products — read &amp; manage only</a:t>
            </a:r>
          </a:p>
        </p:txBody>
      </p:sp>
      <p:sp>
        <p:nvSpPr>
          <p:cNvPr id="7" name="Rectangle 6"/>
          <p:cNvSpPr/>
          <p:nvPr/>
        </p:nvSpPr>
        <p:spPr>
          <a:xfrm>
            <a:off x="502920" y="5166360"/>
            <a:ext cx="5257800" cy="1097280"/>
          </a:xfrm>
          <a:prstGeom prst="rect">
            <a:avLst/>
          </a:prstGeom>
          <a:solidFill>
            <a:srgbClr val="0F2C47"/>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5257800"/>
            <a:ext cx="5056632" cy="365760"/>
          </a:xfrm>
          <a:prstGeom prst="rect">
            <a:avLst/>
          </a:prstGeom>
          <a:noFill/>
        </p:spPr>
        <p:txBody>
          <a:bodyPr wrap="square">
            <a:spAutoFit/>
          </a:bodyPr>
          <a:lstStyle/>
          <a:p>
            <a:pPr algn="l"/>
            <a:r>
              <a:rPr sz="1900" b="1" i="0">
                <a:solidFill>
                  <a:srgbClr val="FBBF24"/>
                </a:solidFill>
                <a:latin typeface="Calibri"/>
              </a:rPr>
              <a:t>Completely Separate from Vendor Portal</a:t>
            </a:r>
          </a:p>
        </p:txBody>
      </p:sp>
      <p:sp>
        <p:nvSpPr>
          <p:cNvPr id="9" name="TextBox 8"/>
          <p:cNvSpPr txBox="1"/>
          <p:nvPr/>
        </p:nvSpPr>
        <p:spPr>
          <a:xfrm>
            <a:off x="649224" y="5660136"/>
            <a:ext cx="5056632" cy="530352"/>
          </a:xfrm>
          <a:prstGeom prst="rect">
            <a:avLst/>
          </a:prstGeom>
          <a:noFill/>
        </p:spPr>
        <p:txBody>
          <a:bodyPr wrap="square">
            <a:spAutoFit/>
          </a:bodyPr>
          <a:lstStyle/>
          <a:p>
            <a:pPr algn="l"/>
            <a:r>
              <a:rPr sz="1800" b="0" i="0">
                <a:solidFill>
                  <a:srgbClr val="CBD5E1"/>
                </a:solidFill>
                <a:latin typeface="Calibri"/>
              </a:rPr>
              <a:t>Admin login uses predefined credentials.
Different UI, different data, different role.</a:t>
            </a:r>
          </a:p>
        </p:txBody>
      </p:sp>
      <p:sp>
        <p:nvSpPr>
          <p:cNvPr id="10" name="Rectangle 9"/>
          <p:cNvSpPr/>
          <p:nvPr/>
        </p:nvSpPr>
        <p:spPr>
          <a:xfrm>
            <a:off x="6172200" y="1874520"/>
            <a:ext cx="5760720" cy="4617720"/>
          </a:xfrm>
          <a:prstGeom prst="rect">
            <a:avLst/>
          </a:prstGeom>
          <a:solidFill>
            <a:srgbClr val="0A20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81928" y="1984248"/>
            <a:ext cx="5541264" cy="4398264"/>
          </a:xfrm>
          <a:prstGeom prst="rect">
            <a:avLst/>
          </a:prstGeom>
          <a:noFill/>
          <a:ln w="9525">
            <a:solidFill>
              <a:srgbClr val="1E4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744468"/>
            <a:ext cx="5760720" cy="402336"/>
          </a:xfrm>
          <a:prstGeom prst="rect">
            <a:avLst/>
          </a:prstGeom>
          <a:noFill/>
        </p:spPr>
        <p:txBody>
          <a:bodyPr wrap="square">
            <a:spAutoFit/>
          </a:bodyPr>
          <a:lstStyle/>
          <a:p>
            <a:pPr algn="ctr"/>
            <a:r>
              <a:rPr sz="1800" b="0" i="0">
                <a:solidFill>
                  <a:srgbClr val="336A90"/>
                </a:solidFill>
                <a:latin typeface="Calibri"/>
              </a:rPr>
              <a:t>[ Screenshot ]</a:t>
            </a:r>
          </a:p>
        </p:txBody>
      </p:sp>
      <p:sp>
        <p:nvSpPr>
          <p:cNvPr id="13" name="TextBox 12"/>
          <p:cNvSpPr txBox="1"/>
          <p:nvPr/>
        </p:nvSpPr>
        <p:spPr>
          <a:xfrm>
            <a:off x="6172200" y="4219956"/>
            <a:ext cx="5760720" cy="384048"/>
          </a:xfrm>
          <a:prstGeom prst="rect">
            <a:avLst/>
          </a:prstGeom>
          <a:noFill/>
        </p:spPr>
        <p:txBody>
          <a:bodyPr wrap="square">
            <a:spAutoFit/>
          </a:bodyPr>
          <a:lstStyle/>
          <a:p>
            <a:pPr algn="ctr"/>
            <a:r>
              <a:rPr sz="1500" b="0" i="1">
                <a:solidFill>
                  <a:srgbClr val="3B82F6"/>
                </a:solidFill>
                <a:latin typeface="Calibri"/>
              </a:rPr>
              <a:t>Admin Control Console — Vendor Management + Products Table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Milestone 1 Key Achievements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Everything delivered and verified in this milestone</a:t>
            </a:r>
          </a:p>
        </p:txBody>
      </p:sp>
      <p:sp>
        <p:nvSpPr>
          <p:cNvPr id="5" name="Rectangle 4"/>
          <p:cNvSpPr/>
          <p:nvPr/>
        </p:nvSpPr>
        <p:spPr>
          <a:xfrm>
            <a:off x="5029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920240"/>
            <a:ext cx="594360" cy="594360"/>
          </a:xfrm>
          <a:prstGeom prst="rect">
            <a:avLst/>
          </a:prstGeom>
          <a:noFill/>
        </p:spPr>
        <p:txBody>
          <a:bodyPr wrap="square">
            <a:spAutoFit/>
          </a:bodyPr>
          <a:lstStyle/>
          <a:p>
            <a:pPr algn="ctr"/>
            <a:r>
              <a:rPr sz="1600" b="1" i="0">
                <a:solidFill>
                  <a:srgbClr val="0D1B2A"/>
                </a:solidFill>
                <a:latin typeface="Calibri"/>
              </a:rPr>
              <a:t>01</a:t>
            </a:r>
          </a:p>
        </p:txBody>
      </p:sp>
      <p:sp>
        <p:nvSpPr>
          <p:cNvPr id="7" name="Rectangle 6"/>
          <p:cNvSpPr/>
          <p:nvPr/>
        </p:nvSpPr>
        <p:spPr>
          <a:xfrm>
            <a:off x="1170432" y="1874520"/>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1965960"/>
            <a:ext cx="5212080" cy="384048"/>
          </a:xfrm>
          <a:prstGeom prst="rect">
            <a:avLst/>
          </a:prstGeom>
          <a:noFill/>
        </p:spPr>
        <p:txBody>
          <a:bodyPr wrap="square">
            <a:spAutoFit/>
          </a:bodyPr>
          <a:lstStyle/>
          <a:p>
            <a:pPr algn="l"/>
            <a:r>
              <a:rPr sz="2000" b="1" i="0">
                <a:solidFill>
                  <a:srgbClr val="FFFFFF"/>
                </a:solidFill>
                <a:latin typeface="Calibri"/>
              </a:rPr>
              <a:t>Authentication</a:t>
            </a:r>
          </a:p>
        </p:txBody>
      </p:sp>
      <p:sp>
        <p:nvSpPr>
          <p:cNvPr id="9" name="TextBox 8"/>
          <p:cNvSpPr txBox="1"/>
          <p:nvPr/>
        </p:nvSpPr>
        <p:spPr>
          <a:xfrm>
            <a:off x="1280160" y="2423160"/>
            <a:ext cx="5212080" cy="777240"/>
          </a:xfrm>
          <a:prstGeom prst="rect">
            <a:avLst/>
          </a:prstGeom>
          <a:noFill/>
        </p:spPr>
        <p:txBody>
          <a:bodyPr wrap="square">
            <a:spAutoFit/>
          </a:bodyPr>
          <a:lstStyle/>
          <a:p>
            <a:pPr algn="l"/>
            <a:r>
              <a:rPr sz="1700" b="0" i="0">
                <a:solidFill>
                  <a:srgbClr val="CBD5E1"/>
                </a:solidFill>
                <a:latin typeface="Calibri"/>
              </a:rPr>
              <a:t>SHA-256 hashed passwords, 404 / 401 error responses, immediate login after registration</a:t>
            </a:r>
          </a:p>
        </p:txBody>
      </p:sp>
      <p:sp>
        <p:nvSpPr>
          <p:cNvPr id="10" name="Rectangle 9"/>
          <p:cNvSpPr/>
          <p:nvPr/>
        </p:nvSpPr>
        <p:spPr>
          <a:xfrm>
            <a:off x="6446520" y="1920240"/>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920240"/>
            <a:ext cx="594360" cy="594360"/>
          </a:xfrm>
          <a:prstGeom prst="rect">
            <a:avLst/>
          </a:prstGeom>
          <a:noFill/>
        </p:spPr>
        <p:txBody>
          <a:bodyPr wrap="square">
            <a:spAutoFit/>
          </a:bodyPr>
          <a:lstStyle/>
          <a:p>
            <a:pPr algn="ctr"/>
            <a:r>
              <a:rPr sz="1600" b="1" i="0">
                <a:solidFill>
                  <a:srgbClr val="0D1B2A"/>
                </a:solidFill>
                <a:latin typeface="Calibri"/>
              </a:rPr>
              <a:t>02</a:t>
            </a:r>
          </a:p>
        </p:txBody>
      </p:sp>
      <p:sp>
        <p:nvSpPr>
          <p:cNvPr id="12" name="Rectangle 11"/>
          <p:cNvSpPr/>
          <p:nvPr/>
        </p:nvSpPr>
        <p:spPr>
          <a:xfrm>
            <a:off x="7114032" y="1874520"/>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60" y="1965960"/>
            <a:ext cx="5212080" cy="384048"/>
          </a:xfrm>
          <a:prstGeom prst="rect">
            <a:avLst/>
          </a:prstGeom>
          <a:noFill/>
        </p:spPr>
        <p:txBody>
          <a:bodyPr wrap="square">
            <a:spAutoFit/>
          </a:bodyPr>
          <a:lstStyle/>
          <a:p>
            <a:pPr algn="l"/>
            <a:r>
              <a:rPr sz="2000" b="1" i="0">
                <a:solidFill>
                  <a:srgbClr val="FFFFFF"/>
                </a:solidFill>
                <a:latin typeface="Calibri"/>
              </a:rPr>
              <a:t>Data Isolation</a:t>
            </a:r>
          </a:p>
        </p:txBody>
      </p:sp>
      <p:sp>
        <p:nvSpPr>
          <p:cNvPr id="14" name="TextBox 13"/>
          <p:cNvSpPr txBox="1"/>
          <p:nvPr/>
        </p:nvSpPr>
        <p:spPr>
          <a:xfrm>
            <a:off x="7223760" y="2423160"/>
            <a:ext cx="5212080" cy="777240"/>
          </a:xfrm>
          <a:prstGeom prst="rect">
            <a:avLst/>
          </a:prstGeom>
          <a:noFill/>
        </p:spPr>
        <p:txBody>
          <a:bodyPr wrap="square">
            <a:spAutoFit/>
          </a:bodyPr>
          <a:lstStyle/>
          <a:p>
            <a:pPr algn="l"/>
            <a:r>
              <a:rPr sz="1700" b="0" i="0">
                <a:solidFill>
                  <a:srgbClr val="CBD5E1"/>
                </a:solidFill>
                <a:latin typeface="Calibri"/>
              </a:rPr>
              <a:t>vendor_id filtered queries — Vendor A never sees Vendor B's data</a:t>
            </a:r>
          </a:p>
        </p:txBody>
      </p:sp>
      <p:sp>
        <p:nvSpPr>
          <p:cNvPr id="15" name="Rectangle 14"/>
          <p:cNvSpPr/>
          <p:nvPr/>
        </p:nvSpPr>
        <p:spPr>
          <a:xfrm>
            <a:off x="502920" y="3401568"/>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3401568"/>
            <a:ext cx="594360" cy="594360"/>
          </a:xfrm>
          <a:prstGeom prst="rect">
            <a:avLst/>
          </a:prstGeom>
          <a:noFill/>
        </p:spPr>
        <p:txBody>
          <a:bodyPr wrap="square">
            <a:spAutoFit/>
          </a:bodyPr>
          <a:lstStyle/>
          <a:p>
            <a:pPr algn="ctr"/>
            <a:r>
              <a:rPr sz="1600" b="1" i="0">
                <a:solidFill>
                  <a:srgbClr val="0D1B2A"/>
                </a:solidFill>
                <a:latin typeface="Calibri"/>
              </a:rPr>
              <a:t>03</a:t>
            </a:r>
          </a:p>
        </p:txBody>
      </p:sp>
      <p:sp>
        <p:nvSpPr>
          <p:cNvPr id="17" name="Rectangle 16"/>
          <p:cNvSpPr/>
          <p:nvPr/>
        </p:nvSpPr>
        <p:spPr>
          <a:xfrm>
            <a:off x="1170432" y="3355848"/>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3447288"/>
            <a:ext cx="5212080" cy="384048"/>
          </a:xfrm>
          <a:prstGeom prst="rect">
            <a:avLst/>
          </a:prstGeom>
          <a:noFill/>
        </p:spPr>
        <p:txBody>
          <a:bodyPr wrap="square">
            <a:spAutoFit/>
          </a:bodyPr>
          <a:lstStyle/>
          <a:p>
            <a:pPr algn="l"/>
            <a:r>
              <a:rPr sz="2000" b="1" i="0">
                <a:solidFill>
                  <a:srgbClr val="FFFFFF"/>
                </a:solidFill>
                <a:latin typeface="Calibri"/>
              </a:rPr>
              <a:t>Inventory Management</a:t>
            </a:r>
          </a:p>
        </p:txBody>
      </p:sp>
      <p:sp>
        <p:nvSpPr>
          <p:cNvPr id="19" name="TextBox 18"/>
          <p:cNvSpPr txBox="1"/>
          <p:nvPr/>
        </p:nvSpPr>
        <p:spPr>
          <a:xfrm>
            <a:off x="1280160" y="3904488"/>
            <a:ext cx="5212080" cy="777240"/>
          </a:xfrm>
          <a:prstGeom prst="rect">
            <a:avLst/>
          </a:prstGeom>
          <a:noFill/>
        </p:spPr>
        <p:txBody>
          <a:bodyPr wrap="square">
            <a:spAutoFit/>
          </a:bodyPr>
          <a:lstStyle/>
          <a:p>
            <a:pPr algn="l"/>
            <a:r>
              <a:rPr sz="1700" b="0" i="0">
                <a:solidFill>
                  <a:srgbClr val="CBD5E1"/>
                </a:solidFill>
                <a:latin typeface="Calibri"/>
              </a:rPr>
              <a:t>Full CRUD with stock status: Available / Low Stock / Out of Stock Warning</a:t>
            </a:r>
          </a:p>
        </p:txBody>
      </p:sp>
      <p:sp>
        <p:nvSpPr>
          <p:cNvPr id="20" name="Rectangle 19"/>
          <p:cNvSpPr/>
          <p:nvPr/>
        </p:nvSpPr>
        <p:spPr>
          <a:xfrm>
            <a:off x="6446520" y="3401568"/>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46520" y="3401568"/>
            <a:ext cx="594360" cy="594360"/>
          </a:xfrm>
          <a:prstGeom prst="rect">
            <a:avLst/>
          </a:prstGeom>
          <a:noFill/>
        </p:spPr>
        <p:txBody>
          <a:bodyPr wrap="square">
            <a:spAutoFit/>
          </a:bodyPr>
          <a:lstStyle/>
          <a:p>
            <a:pPr algn="ctr"/>
            <a:r>
              <a:rPr sz="1600" b="1" i="0">
                <a:solidFill>
                  <a:srgbClr val="0D1B2A"/>
                </a:solidFill>
                <a:latin typeface="Calibri"/>
              </a:rPr>
              <a:t>04</a:t>
            </a:r>
          </a:p>
        </p:txBody>
      </p:sp>
      <p:sp>
        <p:nvSpPr>
          <p:cNvPr id="22" name="Rectangle 21"/>
          <p:cNvSpPr/>
          <p:nvPr/>
        </p:nvSpPr>
        <p:spPr>
          <a:xfrm>
            <a:off x="7114032" y="3355848"/>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23760" y="3447288"/>
            <a:ext cx="5212080" cy="384048"/>
          </a:xfrm>
          <a:prstGeom prst="rect">
            <a:avLst/>
          </a:prstGeom>
          <a:noFill/>
        </p:spPr>
        <p:txBody>
          <a:bodyPr wrap="square">
            <a:spAutoFit/>
          </a:bodyPr>
          <a:lstStyle/>
          <a:p>
            <a:pPr algn="l"/>
            <a:r>
              <a:rPr sz="2000" b="1" i="0">
                <a:solidFill>
                  <a:srgbClr val="FFFFFF"/>
                </a:solidFill>
                <a:latin typeface="Calibri"/>
              </a:rPr>
              <a:t>Admin Console</a:t>
            </a:r>
          </a:p>
        </p:txBody>
      </p:sp>
      <p:sp>
        <p:nvSpPr>
          <p:cNvPr id="24" name="TextBox 23"/>
          <p:cNvSpPr txBox="1"/>
          <p:nvPr/>
        </p:nvSpPr>
        <p:spPr>
          <a:xfrm>
            <a:off x="7223760" y="3904488"/>
            <a:ext cx="5212080" cy="777240"/>
          </a:xfrm>
          <a:prstGeom prst="rect">
            <a:avLst/>
          </a:prstGeom>
          <a:noFill/>
        </p:spPr>
        <p:txBody>
          <a:bodyPr wrap="square">
            <a:spAutoFit/>
          </a:bodyPr>
          <a:lstStyle/>
          <a:p>
            <a:pPr algn="l"/>
            <a:r>
              <a:rPr sz="1700" b="0" i="0">
                <a:solidFill>
                  <a:srgbClr val="CBD5E1"/>
                </a:solidFill>
                <a:latin typeface="Calibri"/>
              </a:rPr>
              <a:t>Live vendor, product and revenue data from PostgreSQL. Cascade delete supported.</a:t>
            </a:r>
          </a:p>
        </p:txBody>
      </p:sp>
      <p:sp>
        <p:nvSpPr>
          <p:cNvPr id="25" name="Rectangle 24"/>
          <p:cNvSpPr/>
          <p:nvPr/>
        </p:nvSpPr>
        <p:spPr>
          <a:xfrm>
            <a:off x="502920" y="4882896"/>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4882896"/>
            <a:ext cx="594360" cy="594360"/>
          </a:xfrm>
          <a:prstGeom prst="rect">
            <a:avLst/>
          </a:prstGeom>
          <a:noFill/>
        </p:spPr>
        <p:txBody>
          <a:bodyPr wrap="square">
            <a:spAutoFit/>
          </a:bodyPr>
          <a:lstStyle/>
          <a:p>
            <a:pPr algn="ctr"/>
            <a:r>
              <a:rPr sz="1600" b="1" i="0">
                <a:solidFill>
                  <a:srgbClr val="0D1B2A"/>
                </a:solidFill>
                <a:latin typeface="Calibri"/>
              </a:rPr>
              <a:t>05</a:t>
            </a:r>
          </a:p>
        </p:txBody>
      </p:sp>
      <p:sp>
        <p:nvSpPr>
          <p:cNvPr id="27" name="Rectangle 26"/>
          <p:cNvSpPr/>
          <p:nvPr/>
        </p:nvSpPr>
        <p:spPr>
          <a:xfrm>
            <a:off x="1170432" y="4837176"/>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80160" y="4928616"/>
            <a:ext cx="5212080" cy="384048"/>
          </a:xfrm>
          <a:prstGeom prst="rect">
            <a:avLst/>
          </a:prstGeom>
          <a:noFill/>
        </p:spPr>
        <p:txBody>
          <a:bodyPr wrap="square">
            <a:spAutoFit/>
          </a:bodyPr>
          <a:lstStyle/>
          <a:p>
            <a:pPr algn="l"/>
            <a:r>
              <a:rPr sz="2000" b="1" i="0">
                <a:solidFill>
                  <a:srgbClr val="FFFFFF"/>
                </a:solidFill>
                <a:latin typeface="Calibri"/>
              </a:rPr>
              <a:t>16 REST APIs</a:t>
            </a:r>
          </a:p>
        </p:txBody>
      </p:sp>
      <p:sp>
        <p:nvSpPr>
          <p:cNvPr id="29" name="TextBox 28"/>
          <p:cNvSpPr txBox="1"/>
          <p:nvPr/>
        </p:nvSpPr>
        <p:spPr>
          <a:xfrm>
            <a:off x="1280160" y="5385816"/>
            <a:ext cx="5212080" cy="777240"/>
          </a:xfrm>
          <a:prstGeom prst="rect">
            <a:avLst/>
          </a:prstGeom>
          <a:noFill/>
        </p:spPr>
        <p:txBody>
          <a:bodyPr wrap="square">
            <a:spAutoFit/>
          </a:bodyPr>
          <a:lstStyle/>
          <a:p>
            <a:pPr algn="l"/>
            <a:r>
              <a:rPr sz="1700" b="0" i="0">
                <a:solidFill>
                  <a:srgbClr val="CBD5E1"/>
                </a:solidFill>
                <a:latin typeface="Calibri"/>
              </a:rPr>
              <a:t>Swagger-documented endpoints across Vendors, Admin, Products, Analytics modules</a:t>
            </a:r>
          </a:p>
        </p:txBody>
      </p:sp>
      <p:sp>
        <p:nvSpPr>
          <p:cNvPr id="30" name="Rectangle 29"/>
          <p:cNvSpPr/>
          <p:nvPr/>
        </p:nvSpPr>
        <p:spPr>
          <a:xfrm>
            <a:off x="6446520" y="4882896"/>
            <a:ext cx="59436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882896"/>
            <a:ext cx="594360" cy="594360"/>
          </a:xfrm>
          <a:prstGeom prst="rect">
            <a:avLst/>
          </a:prstGeom>
          <a:noFill/>
        </p:spPr>
        <p:txBody>
          <a:bodyPr wrap="square">
            <a:spAutoFit/>
          </a:bodyPr>
          <a:lstStyle/>
          <a:p>
            <a:pPr algn="ctr"/>
            <a:r>
              <a:rPr sz="1600" b="1" i="0">
                <a:solidFill>
                  <a:srgbClr val="0D1B2A"/>
                </a:solidFill>
                <a:latin typeface="Calibri"/>
              </a:rPr>
              <a:t>06</a:t>
            </a:r>
          </a:p>
        </p:txBody>
      </p:sp>
      <p:sp>
        <p:nvSpPr>
          <p:cNvPr id="32" name="Rectangle 31"/>
          <p:cNvSpPr/>
          <p:nvPr/>
        </p:nvSpPr>
        <p:spPr>
          <a:xfrm>
            <a:off x="7114032" y="4837176"/>
            <a:ext cx="544068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0" y="4928616"/>
            <a:ext cx="5212080" cy="384048"/>
          </a:xfrm>
          <a:prstGeom prst="rect">
            <a:avLst/>
          </a:prstGeom>
          <a:noFill/>
        </p:spPr>
        <p:txBody>
          <a:bodyPr wrap="square">
            <a:spAutoFit/>
          </a:bodyPr>
          <a:lstStyle/>
          <a:p>
            <a:pPr algn="l"/>
            <a:r>
              <a:rPr sz="2000" b="1" i="0">
                <a:solidFill>
                  <a:srgbClr val="FFFFFF"/>
                </a:solidFill>
                <a:latin typeface="Calibri"/>
              </a:rPr>
              <a:t>Unified Launch</a:t>
            </a:r>
          </a:p>
        </p:txBody>
      </p:sp>
      <p:sp>
        <p:nvSpPr>
          <p:cNvPr id="34" name="TextBox 33"/>
          <p:cNvSpPr txBox="1"/>
          <p:nvPr/>
        </p:nvSpPr>
        <p:spPr>
          <a:xfrm>
            <a:off x="7223760" y="5385816"/>
            <a:ext cx="5212080" cy="777240"/>
          </a:xfrm>
          <a:prstGeom prst="rect">
            <a:avLst/>
          </a:prstGeom>
          <a:noFill/>
        </p:spPr>
        <p:txBody>
          <a:bodyPr wrap="square">
            <a:spAutoFit/>
          </a:bodyPr>
          <a:lstStyle/>
          <a:p>
            <a:pPr algn="l"/>
            <a:r>
              <a:rPr sz="1700" b="0" i="0">
                <a:solidFill>
                  <a:srgbClr val="CBD5E1"/>
                </a:solidFill>
                <a:latin typeface="Calibri"/>
              </a:rPr>
              <a:t>uvicorn main:app --reload  →  http://127.0.0.1:8000/  serves full application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11430000" cy="804672"/>
          </a:xfrm>
          <a:prstGeom prst="rect">
            <a:avLst/>
          </a:prstGeom>
          <a:noFill/>
        </p:spPr>
        <p:txBody>
          <a:bodyPr wrap="square">
            <a:spAutoFit/>
          </a:bodyPr>
          <a:lstStyle/>
          <a:p>
            <a:pPr algn="l"/>
            <a:r>
              <a:rPr sz="3600" b="1" i="0">
                <a:solidFill>
                  <a:srgbClr val="FFFFFF"/>
                </a:solidFill>
                <a:latin typeface="Calibri"/>
              </a:rPr>
              <a:t>Future Enhancements</a:t>
            </a:r>
          </a:p>
        </p:txBody>
      </p:sp>
      <p:sp>
        <p:nvSpPr>
          <p:cNvPr id="4" name="TextBox 3"/>
          <p:cNvSpPr txBox="1"/>
          <p:nvPr/>
        </p:nvSpPr>
        <p:spPr>
          <a:xfrm>
            <a:off x="502920" y="1097280"/>
            <a:ext cx="11430000" cy="384048"/>
          </a:xfrm>
          <a:prstGeom prst="rect">
            <a:avLst/>
          </a:prstGeom>
          <a:noFill/>
        </p:spPr>
        <p:txBody>
          <a:bodyPr wrap="square">
            <a:spAutoFit/>
          </a:bodyPr>
          <a:lstStyle/>
          <a:p>
            <a:pPr algn="l"/>
            <a:r>
              <a:rPr sz="2000" b="0" i="0">
                <a:solidFill>
                  <a:srgbClr val="6EE7C0"/>
                </a:solidFill>
                <a:latin typeface="Calibri"/>
              </a:rPr>
              <a:t>Planned additions for Milestone 2 and beyond</a:t>
            </a:r>
          </a:p>
        </p:txBody>
      </p:sp>
      <p:sp>
        <p:nvSpPr>
          <p:cNvPr id="5" name="Rectangle 4"/>
          <p:cNvSpPr/>
          <p:nvPr/>
        </p:nvSpPr>
        <p:spPr>
          <a:xfrm>
            <a:off x="502920" y="1874520"/>
            <a:ext cx="557784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965960"/>
            <a:ext cx="5321808" cy="384048"/>
          </a:xfrm>
          <a:prstGeom prst="rect">
            <a:avLst/>
          </a:prstGeom>
          <a:noFill/>
        </p:spPr>
        <p:txBody>
          <a:bodyPr wrap="square">
            <a:spAutoFit/>
          </a:bodyPr>
          <a:lstStyle/>
          <a:p>
            <a:pPr algn="l"/>
            <a:r>
              <a:rPr sz="2100" b="1" i="0">
                <a:solidFill>
                  <a:srgbClr val="10B981"/>
                </a:solidFill>
                <a:latin typeface="Calibri"/>
              </a:rPr>
              <a:t>Advanced AI Analytics</a:t>
            </a:r>
          </a:p>
        </p:txBody>
      </p:sp>
      <p:sp>
        <p:nvSpPr>
          <p:cNvPr id="7" name="TextBox 6"/>
          <p:cNvSpPr txBox="1"/>
          <p:nvPr/>
        </p:nvSpPr>
        <p:spPr>
          <a:xfrm>
            <a:off x="667512" y="2423160"/>
            <a:ext cx="5321808" cy="768096"/>
          </a:xfrm>
          <a:prstGeom prst="rect">
            <a:avLst/>
          </a:prstGeom>
          <a:noFill/>
        </p:spPr>
        <p:txBody>
          <a:bodyPr wrap="square">
            <a:spAutoFit/>
          </a:bodyPr>
          <a:lstStyle/>
          <a:p>
            <a:pPr algn="l"/>
            <a:r>
              <a:rPr sz="1800" b="0" i="0">
                <a:solidFill>
                  <a:srgbClr val="CBD5E1"/>
                </a:solidFill>
                <a:latin typeface="Calibri"/>
              </a:rPr>
              <a:t>Full ARIMA model trained on real transaction data.
Gemini LLM integration for actual customer review analysis.</a:t>
            </a:r>
          </a:p>
        </p:txBody>
      </p:sp>
      <p:sp>
        <p:nvSpPr>
          <p:cNvPr id="8" name="Rectangle 7"/>
          <p:cNvSpPr/>
          <p:nvPr/>
        </p:nvSpPr>
        <p:spPr>
          <a:xfrm>
            <a:off x="6446520" y="1874520"/>
            <a:ext cx="557784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11112" y="1965960"/>
            <a:ext cx="5321808" cy="384048"/>
          </a:xfrm>
          <a:prstGeom prst="rect">
            <a:avLst/>
          </a:prstGeom>
          <a:noFill/>
        </p:spPr>
        <p:txBody>
          <a:bodyPr wrap="square">
            <a:spAutoFit/>
          </a:bodyPr>
          <a:lstStyle/>
          <a:p>
            <a:pPr algn="l"/>
            <a:r>
              <a:rPr sz="2100" b="1" i="0">
                <a:solidFill>
                  <a:srgbClr val="10B981"/>
                </a:solidFill>
                <a:latin typeface="Calibri"/>
              </a:rPr>
              <a:t>Automated Notifications</a:t>
            </a:r>
          </a:p>
        </p:txBody>
      </p:sp>
      <p:sp>
        <p:nvSpPr>
          <p:cNvPr id="10" name="TextBox 9"/>
          <p:cNvSpPr txBox="1"/>
          <p:nvPr/>
        </p:nvSpPr>
        <p:spPr>
          <a:xfrm>
            <a:off x="6611112" y="2423160"/>
            <a:ext cx="5321808" cy="768096"/>
          </a:xfrm>
          <a:prstGeom prst="rect">
            <a:avLst/>
          </a:prstGeom>
          <a:noFill/>
        </p:spPr>
        <p:txBody>
          <a:bodyPr wrap="square">
            <a:spAutoFit/>
          </a:bodyPr>
          <a:lstStyle/>
          <a:p>
            <a:pPr algn="l"/>
            <a:r>
              <a:rPr sz="1800" b="0" i="0">
                <a:solidFill>
                  <a:srgbClr val="CBD5E1"/>
                </a:solidFill>
                <a:latin typeface="Calibri"/>
              </a:rPr>
              <a:t>Email alerts to vendors when stock falls below threshold.
Order confirmation and shipping notifications.</a:t>
            </a:r>
          </a:p>
        </p:txBody>
      </p:sp>
      <p:sp>
        <p:nvSpPr>
          <p:cNvPr id="11" name="Rectangle 10"/>
          <p:cNvSpPr/>
          <p:nvPr/>
        </p:nvSpPr>
        <p:spPr>
          <a:xfrm>
            <a:off x="502920" y="3355848"/>
            <a:ext cx="557784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3447288"/>
            <a:ext cx="5321808" cy="384048"/>
          </a:xfrm>
          <a:prstGeom prst="rect">
            <a:avLst/>
          </a:prstGeom>
          <a:noFill/>
        </p:spPr>
        <p:txBody>
          <a:bodyPr wrap="square">
            <a:spAutoFit/>
          </a:bodyPr>
          <a:lstStyle/>
          <a:p>
            <a:pPr algn="l"/>
            <a:r>
              <a:rPr sz="2100" b="1" i="0">
                <a:solidFill>
                  <a:srgbClr val="10B981"/>
                </a:solidFill>
                <a:latin typeface="Calibri"/>
              </a:rPr>
              <a:t>Payment Gateway</a:t>
            </a:r>
          </a:p>
        </p:txBody>
      </p:sp>
      <p:sp>
        <p:nvSpPr>
          <p:cNvPr id="13" name="TextBox 12"/>
          <p:cNvSpPr txBox="1"/>
          <p:nvPr/>
        </p:nvSpPr>
        <p:spPr>
          <a:xfrm>
            <a:off x="667512" y="3904488"/>
            <a:ext cx="5321808" cy="768096"/>
          </a:xfrm>
          <a:prstGeom prst="rect">
            <a:avLst/>
          </a:prstGeom>
          <a:noFill/>
        </p:spPr>
        <p:txBody>
          <a:bodyPr wrap="square">
            <a:spAutoFit/>
          </a:bodyPr>
          <a:lstStyle/>
          <a:p>
            <a:pPr algn="l"/>
            <a:r>
              <a:rPr sz="1800" b="0" i="0">
                <a:solidFill>
                  <a:srgbClr val="CBD5E1"/>
                </a:solidFill>
                <a:latin typeface="Calibri"/>
              </a:rPr>
              <a:t>Razorpay / Stripe integration for vendor transactions and order payments.</a:t>
            </a:r>
          </a:p>
        </p:txBody>
      </p:sp>
      <p:sp>
        <p:nvSpPr>
          <p:cNvPr id="14" name="Rectangle 13"/>
          <p:cNvSpPr/>
          <p:nvPr/>
        </p:nvSpPr>
        <p:spPr>
          <a:xfrm>
            <a:off x="6446520" y="3355848"/>
            <a:ext cx="5577840"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11112" y="3447288"/>
            <a:ext cx="5321808" cy="384048"/>
          </a:xfrm>
          <a:prstGeom prst="rect">
            <a:avLst/>
          </a:prstGeom>
          <a:noFill/>
        </p:spPr>
        <p:txBody>
          <a:bodyPr wrap="square">
            <a:spAutoFit/>
          </a:bodyPr>
          <a:lstStyle/>
          <a:p>
            <a:pPr algn="l"/>
            <a:r>
              <a:rPr sz="2100" b="1" i="0">
                <a:solidFill>
                  <a:srgbClr val="10B981"/>
                </a:solidFill>
                <a:latin typeface="Calibri"/>
              </a:rPr>
              <a:t>Mobile-Responsive UI</a:t>
            </a:r>
          </a:p>
        </p:txBody>
      </p:sp>
      <p:sp>
        <p:nvSpPr>
          <p:cNvPr id="16" name="TextBox 15"/>
          <p:cNvSpPr txBox="1"/>
          <p:nvPr/>
        </p:nvSpPr>
        <p:spPr>
          <a:xfrm>
            <a:off x="6611112" y="3904488"/>
            <a:ext cx="5321808" cy="768096"/>
          </a:xfrm>
          <a:prstGeom prst="rect">
            <a:avLst/>
          </a:prstGeom>
          <a:noFill/>
        </p:spPr>
        <p:txBody>
          <a:bodyPr wrap="square">
            <a:spAutoFit/>
          </a:bodyPr>
          <a:lstStyle/>
          <a:p>
            <a:pPr algn="l"/>
            <a:r>
              <a:rPr sz="1800" b="0" i="0">
                <a:solidFill>
                  <a:srgbClr val="CBD5E1"/>
                </a:solidFill>
                <a:latin typeface="Calibri"/>
              </a:rPr>
              <a:t>Fully responsive design optimized for mobile and tablet screen sizes.</a:t>
            </a:r>
          </a:p>
        </p:txBody>
      </p:sp>
      <p:sp>
        <p:nvSpPr>
          <p:cNvPr id="17" name="Rectangle 16"/>
          <p:cNvSpPr/>
          <p:nvPr/>
        </p:nvSpPr>
        <p:spPr>
          <a:xfrm>
            <a:off x="502920" y="4837176"/>
            <a:ext cx="11183112" cy="1389888"/>
          </a:xfrm>
          <a:prstGeom prst="rect">
            <a:avLst/>
          </a:prstGeom>
          <a:solidFill>
            <a:srgbClr val="0F2C47"/>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 y="4928616"/>
            <a:ext cx="10972800" cy="384048"/>
          </a:xfrm>
          <a:prstGeom prst="rect">
            <a:avLst/>
          </a:prstGeom>
          <a:noFill/>
        </p:spPr>
        <p:txBody>
          <a:bodyPr wrap="square">
            <a:spAutoFit/>
          </a:bodyPr>
          <a:lstStyle/>
          <a:p>
            <a:pPr algn="l"/>
            <a:r>
              <a:rPr sz="2100" b="1" i="0">
                <a:solidFill>
                  <a:srgbClr val="10B981"/>
                </a:solidFill>
                <a:latin typeface="Calibri"/>
              </a:rPr>
              <a:t>Downloadable Reports</a:t>
            </a:r>
          </a:p>
        </p:txBody>
      </p:sp>
      <p:sp>
        <p:nvSpPr>
          <p:cNvPr id="19" name="TextBox 18"/>
          <p:cNvSpPr txBox="1"/>
          <p:nvPr/>
        </p:nvSpPr>
        <p:spPr>
          <a:xfrm>
            <a:off x="667512" y="5385816"/>
            <a:ext cx="10972800" cy="768096"/>
          </a:xfrm>
          <a:prstGeom prst="rect">
            <a:avLst/>
          </a:prstGeom>
          <a:noFill/>
        </p:spPr>
        <p:txBody>
          <a:bodyPr wrap="square">
            <a:spAutoFit/>
          </a:bodyPr>
          <a:lstStyle/>
          <a:p>
            <a:pPr algn="l"/>
            <a:r>
              <a:rPr sz="1800" b="0" i="0">
                <a:solidFill>
                  <a:srgbClr val="CBD5E1"/>
                </a:solidFill>
                <a:latin typeface="Calibri"/>
              </a:rPr>
              <a:t>PDF and Excel exports for vendor inventory reports and admin analytics.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66560"/>
            <a:ext cx="12188952"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371600"/>
            <a:ext cx="9144000" cy="3200400"/>
          </a:xfrm>
          <a:prstGeom prst="rect">
            <a:avLst/>
          </a:prstGeom>
          <a:noFill/>
        </p:spPr>
        <p:txBody>
          <a:bodyPr wrap="square">
            <a:spAutoFit/>
          </a:bodyPr>
          <a:lstStyle/>
          <a:p>
            <a:pPr algn="l"/>
            <a:r>
              <a:rPr sz="11000" b="1" i="0">
                <a:solidFill>
                  <a:srgbClr val="132D45"/>
                </a:solidFill>
                <a:latin typeface="Calibri"/>
              </a:rPr>
              <a:t>ShopSense</a:t>
            </a:r>
          </a:p>
        </p:txBody>
      </p:sp>
      <p:sp>
        <p:nvSpPr>
          <p:cNvPr id="6" name="TextBox 5"/>
          <p:cNvSpPr txBox="1"/>
          <p:nvPr/>
        </p:nvSpPr>
        <p:spPr>
          <a:xfrm>
            <a:off x="457200" y="1417320"/>
            <a:ext cx="11247120" cy="1143000"/>
          </a:xfrm>
          <a:prstGeom prst="rect">
            <a:avLst/>
          </a:prstGeom>
          <a:noFill/>
        </p:spPr>
        <p:txBody>
          <a:bodyPr wrap="square">
            <a:spAutoFit/>
          </a:bodyPr>
          <a:lstStyle/>
          <a:p>
            <a:pPr algn="ctr"/>
            <a:r>
              <a:rPr sz="6200" b="1" i="0">
                <a:solidFill>
                  <a:srgbClr val="10B981"/>
                </a:solidFill>
                <a:latin typeface="Calibri"/>
              </a:rPr>
              <a:t>Thank You</a:t>
            </a:r>
          </a:p>
        </p:txBody>
      </p:sp>
      <p:sp>
        <p:nvSpPr>
          <p:cNvPr id="7" name="Rectangle 6"/>
          <p:cNvSpPr/>
          <p:nvPr/>
        </p:nvSpPr>
        <p:spPr>
          <a:xfrm>
            <a:off x="3657600" y="2670048"/>
            <a:ext cx="484632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816352"/>
            <a:ext cx="11247120" cy="566928"/>
          </a:xfrm>
          <a:prstGeom prst="rect">
            <a:avLst/>
          </a:prstGeom>
          <a:noFill/>
        </p:spPr>
        <p:txBody>
          <a:bodyPr wrap="square">
            <a:spAutoFit/>
          </a:bodyPr>
          <a:lstStyle/>
          <a:p>
            <a:pPr algn="ctr"/>
            <a:r>
              <a:rPr sz="2600" b="0" i="0">
                <a:solidFill>
                  <a:srgbClr val="FFFFFF"/>
                </a:solidFill>
                <a:latin typeface="Calibri"/>
              </a:rPr>
              <a:t>Open for Questions &amp; Feedback</a:t>
            </a:r>
          </a:p>
        </p:txBody>
      </p:sp>
      <p:sp>
        <p:nvSpPr>
          <p:cNvPr id="9" name="Rectangle 8"/>
          <p:cNvSpPr/>
          <p:nvPr/>
        </p:nvSpPr>
        <p:spPr>
          <a:xfrm>
            <a:off x="2286000" y="3566160"/>
            <a:ext cx="7589520" cy="2194560"/>
          </a:xfrm>
          <a:prstGeom prst="rect">
            <a:avLst/>
          </a:prstGeom>
          <a:solidFill>
            <a:srgbClr val="0F2C47"/>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23160" y="3675887"/>
            <a:ext cx="7315200" cy="402336"/>
          </a:xfrm>
          <a:prstGeom prst="rect">
            <a:avLst/>
          </a:prstGeom>
          <a:noFill/>
        </p:spPr>
        <p:txBody>
          <a:bodyPr wrap="square">
            <a:spAutoFit/>
          </a:bodyPr>
          <a:lstStyle/>
          <a:p>
            <a:pPr algn="ctr"/>
            <a:r>
              <a:rPr sz="2200" b="1" i="0">
                <a:solidFill>
                  <a:srgbClr val="10B981"/>
                </a:solidFill>
                <a:latin typeface="Calibri"/>
              </a:rPr>
              <a:t>Milestone 1 Summary</a:t>
            </a:r>
          </a:p>
        </p:txBody>
      </p:sp>
      <p:sp>
        <p:nvSpPr>
          <p:cNvPr id="11" name="TextBox 10"/>
          <p:cNvSpPr txBox="1"/>
          <p:nvPr/>
        </p:nvSpPr>
        <p:spPr>
          <a:xfrm>
            <a:off x="2423160" y="4187952"/>
            <a:ext cx="7315200" cy="438912"/>
          </a:xfrm>
          <a:prstGeom prst="rect">
            <a:avLst/>
          </a:prstGeom>
          <a:noFill/>
        </p:spPr>
        <p:txBody>
          <a:bodyPr wrap="square">
            <a:spAutoFit/>
          </a:bodyPr>
          <a:lstStyle/>
          <a:p>
            <a:pPr algn="ctr"/>
            <a:r>
              <a:rPr sz="1800" b="0" i="0">
                <a:solidFill>
                  <a:srgbClr val="CBD5E1"/>
                </a:solidFill>
                <a:latin typeface="Calibri"/>
              </a:rPr>
              <a:t>Backend: FastAPI + PostgreSQL   |   Frontend: HTML + CSS + JS</a:t>
            </a:r>
          </a:p>
        </p:txBody>
      </p:sp>
      <p:sp>
        <p:nvSpPr>
          <p:cNvPr id="12" name="TextBox 11"/>
          <p:cNvSpPr txBox="1"/>
          <p:nvPr/>
        </p:nvSpPr>
        <p:spPr>
          <a:xfrm>
            <a:off x="2423160" y="4663440"/>
            <a:ext cx="7315200" cy="438912"/>
          </a:xfrm>
          <a:prstGeom prst="rect">
            <a:avLst/>
          </a:prstGeom>
          <a:noFill/>
        </p:spPr>
        <p:txBody>
          <a:bodyPr wrap="square">
            <a:spAutoFit/>
          </a:bodyPr>
          <a:lstStyle/>
          <a:p>
            <a:pPr algn="ctr"/>
            <a:r>
              <a:rPr sz="1800" b="0" i="0">
                <a:solidFill>
                  <a:srgbClr val="CBD5E1"/>
                </a:solidFill>
                <a:latin typeface="Calibri"/>
              </a:rPr>
              <a:t>16 REST APIs   |   2 Portals (Vendor + Admin)   |   AI Analytics</a:t>
            </a:r>
          </a:p>
        </p:txBody>
      </p:sp>
      <p:sp>
        <p:nvSpPr>
          <p:cNvPr id="13" name="TextBox 12"/>
          <p:cNvSpPr txBox="1"/>
          <p:nvPr/>
        </p:nvSpPr>
        <p:spPr>
          <a:xfrm>
            <a:off x="2423160" y="5138928"/>
            <a:ext cx="7315200" cy="438912"/>
          </a:xfrm>
          <a:prstGeom prst="rect">
            <a:avLst/>
          </a:prstGeom>
          <a:noFill/>
        </p:spPr>
        <p:txBody>
          <a:bodyPr wrap="square">
            <a:spAutoFit/>
          </a:bodyPr>
          <a:lstStyle/>
          <a:p>
            <a:pPr algn="ctr"/>
            <a:r>
              <a:rPr sz="1800" b="0" i="0">
                <a:solidFill>
                  <a:srgbClr val="CBD5E1"/>
                </a:solidFill>
                <a:latin typeface="Calibri"/>
              </a:rPr>
              <a:t>Run: uvicorn main:app --reload      Open: http://127.0.0.1:8000/</a:t>
            </a:r>
          </a:p>
        </p:txBody>
      </p:sp>
      <p:sp>
        <p:nvSpPr>
          <p:cNvPr id="14" name="TextBox 13"/>
          <p:cNvSpPr txBox="1"/>
          <p:nvPr/>
        </p:nvSpPr>
        <p:spPr>
          <a:xfrm>
            <a:off x="457200" y="6236208"/>
            <a:ext cx="11247120" cy="402336"/>
          </a:xfrm>
          <a:prstGeom prst="rect">
            <a:avLst/>
          </a:prstGeom>
          <a:noFill/>
        </p:spPr>
        <p:txBody>
          <a:bodyPr wrap="square">
            <a:spAutoFit/>
          </a:bodyPr>
          <a:lstStyle/>
          <a:p>
            <a:pPr algn="ctr"/>
            <a:r>
              <a:rPr sz="1400" b="0" i="0">
                <a:solidFill>
                  <a:srgbClr val="4A6F8A"/>
                </a:solidFill>
                <a:latin typeface="Calibri"/>
              </a:rPr>
              <a:t>Infosys Springboard  |  ShopSense – AI-Powered Multi-Vendor Inventory Analytics Platform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a:solidFill>
                  <a:srgbClr val="FFFFFF"/>
                </a:solidFill>
                <a:latin typeface="Arial"/>
              </a:defRPr>
            </a:pPr>
            <a:r>
              <a:t>Title Test</a:t>
            </a:r>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1715</Words>
  <Application>Microsoft Office PowerPoint</Application>
  <PresentationFormat>Custom</PresentationFormat>
  <Paragraphs>168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chimminenisaitanuja@gmail.com</cp:lastModifiedBy>
  <cp:revision>2</cp:revision>
  <dcterms:created xsi:type="dcterms:W3CDTF">2013-01-27T09:14:16Z</dcterms:created>
  <dcterms:modified xsi:type="dcterms:W3CDTF">2026-08-02T19:56:10Z</dcterms:modified>
  <cp:category/>
</cp:coreProperties>
</file>